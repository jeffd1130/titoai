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CONFIDENTIAL · INTERNAL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Arial"/>
              </a:rPr>
              <a:t>Tito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  <a:latin typeface="Arial"/>
              </a:rPr>
              <a:t>@TitoAIPH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5E7EB"/>
                </a:solidFill>
                <a:latin typeface="Arial"/>
              </a:rPr>
              <a:t>Niche &amp; Growth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7315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10515600" cy="100584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CD34D"/>
                </a:solidFill>
                <a:latin typeface="Arial"/>
              </a:rPr>
              <a:t>"The warm, relatable Tito who teaches everyday Filipinos to use AI for free
— before it replaces their job."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Arial"/>
              </a:rPr>
              <a:t>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June 2026 — Post-Audit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5074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Arial"/>
              </a:rPr>
              <a:t>PREPARED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Jeff de las Armas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074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Arial"/>
              </a:rPr>
              <a:t>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349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@tito.aiph · TikTok · IG · FB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64208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384048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874519"/>
            <a:ext cx="5080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984247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Arial"/>
              </a:rPr>
              <a:t>12.7M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514599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Filipino workers exposed to GenAI
Highest in ASEAN (ILO 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874519"/>
            <a:ext cx="384048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874519"/>
            <a:ext cx="5080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84247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Arial"/>
              </a:rPr>
              <a:t>42.4%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514599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Filipino internet users use ChatGPT monthly
6th globally (Radar PH 2026)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874519"/>
            <a:ext cx="384048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1874519"/>
            <a:ext cx="5080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984247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Arial"/>
              </a:rPr>
              <a:t>1.9M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514599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BPO employees who need to upskill now
(BSP 2025)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83279"/>
            <a:ext cx="384048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383279"/>
            <a:ext cx="5080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493007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Arial"/>
              </a:rPr>
              <a:t>1.5M+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023359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Filipino freelancers underserved
by AI education (PIDS)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383279"/>
            <a:ext cx="384048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383279"/>
            <a:ext cx="5080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493007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Arial"/>
              </a:rPr>
              <a:t>14.9%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023359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Only — of small firms currently
use AI tools (PH AI Report 2025)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4464" y="3383279"/>
            <a:ext cx="3840480" cy="1371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4464" y="3383279"/>
            <a:ext cx="50800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3493007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9E0B"/>
                </a:solidFill>
                <a:latin typeface="Arial"/>
              </a:rPr>
              <a:t>83%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023359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Filipino students use AI
Parents haven't caught up (BW 2026)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080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  <a:latin typeface="Arial"/>
              </a:rPr>
              <a:t>The gap: 12.7M Filipinos exposed to AI disruption — almost none have a relatable Taglish-speaking guide. Tito AI is the first mover.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Niche &amp; Competitive Moat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64208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Target Audience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Freelancers (1.5M+)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70048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Guro (teachers)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145536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1272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BPO workers afraid of being replaced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21024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027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Nanays / Tatays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96512"/>
            <a:ext cx="54864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782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Small business owners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Tito AI's Moat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94560"/>
            <a:ext cx="5394960" cy="685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2402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Taglish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48716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Barrier to entry for foreign creators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17520"/>
            <a:ext cx="5394960" cy="685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"Libre lahat"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31012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Removes the #1 objection —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840480"/>
            <a:ext cx="5394960" cy="685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8862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Warm Tito brand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3308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No one else owns this in PH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663440"/>
            <a:ext cx="5394960" cy="685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7091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First mover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9560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Algorithm surfaces "AI tutorial Tagalog"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1737360"/>
            <a:ext cx="19050" cy="5029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Platform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64208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3749039" cy="3657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3749039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84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🥇 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957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Arial"/>
              </a:rPr>
              <a:t>Discovery engine — viral reach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46120"/>
            <a:ext cx="32918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3832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Algorithm-favored education niche. Zero ad spend needed to go viral. 4×/week minimum.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920240"/>
            <a:ext cx="3749039" cy="3657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920240"/>
            <a:ext cx="3749039" cy="508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084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79F9"/>
                </a:solidFill>
                <a:latin typeface="Arial"/>
              </a:rPr>
              <a:t>🥈 SECONDARY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3957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Instagram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79F9"/>
                </a:solidFill>
                <a:latin typeface="Arial"/>
              </a:rPr>
              <a:t>Authority + depth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19" y="3246120"/>
            <a:ext cx="32918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33832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Reels + Carousels drive saves. 25–34 urban professionals. Best for follower conversion.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749039" cy="36576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920240"/>
            <a:ext cx="3749039" cy="508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0848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3C5FD"/>
                </a:solidFill>
                <a:latin typeface="Arial"/>
              </a:rPr>
              <a:t>🥉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3957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Facebook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880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3C5FD"/>
                </a:solidFill>
                <a:latin typeface="Arial"/>
              </a:rPr>
              <a:t>Paid boost + community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3246120"/>
            <a:ext cx="329184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38328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Cheapest PH CPM (65–75% cheaper than US). Best for boosting proven content.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943600"/>
            <a:ext cx="12188952" cy="5029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961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⚠️  Critical: Convert both Facebook personal profiles into one Facebook Page before running any ads.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Profile Bios — Ready to Paste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64208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3749039" cy="3749039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3749039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482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Arial"/>
              </a:rPr>
              <a:t>TIKTOK · @tito.aiph · 71 chars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77440"/>
            <a:ext cx="342900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51460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Libre AI lessons para sa Pilipinas 🇵🇭
Claude · Gemini · Walang bayad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920240"/>
            <a:ext cx="3749039" cy="3749039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920240"/>
            <a:ext cx="3749039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20482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Arial"/>
              </a:rPr>
              <a:t>INSTAGRAM · @tito.aiph · Max 150 chars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19" y="2377440"/>
            <a:ext cx="342900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51460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AI lessons nang libre para sa lahat 🇵🇭
Claude · Gemini — walang bayad
Para sa guro · freelancer · nanay · negosyante
Mga Pamangkin, sama-sama tayong matuto 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20240"/>
            <a:ext cx="3749039" cy="3749039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749039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0482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Arial"/>
              </a:rPr>
              <a:t>FACEBOOK PAGE · Short 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2377440"/>
            <a:ext cx="3429000" cy="12700"/>
          </a:xfrm>
          <a:prstGeom prst="rect">
            <a:avLst/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51460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Nagtuturo ng AI nang libre para sa lahat ng Pilipino.
Claude, Gemini — hakbang-hakbang, Taglish, walang bayad.
Para sa guro, freelancer, nanay, at lahat na nag-aalala sa AI. 🇵🇭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Weekly Posting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64208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146304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920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874519"/>
            <a:ext cx="201168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56232" y="1920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874519"/>
            <a:ext cx="320040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3632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874519"/>
            <a:ext cx="49377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9752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CONTENT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146304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377440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Arial"/>
              </a:rPr>
              <a:t>MONDAY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2286000"/>
            <a:ext cx="201168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56232" y="237744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Arial"/>
              </a:rPr>
              <a:t>TikTok + 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286000"/>
            <a:ext cx="320040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2377440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AI Tip Reel · 30–60s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2286000"/>
            <a:ext cx="493776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9752" y="237744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Quick tool tip — talking 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07792"/>
            <a:ext cx="146304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299923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Arial"/>
              </a:rPr>
              <a:t>WEDNESDAY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2907792"/>
            <a:ext cx="201168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56232" y="299923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Arial"/>
              </a:rPr>
              <a:t>TikTok + IG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907792"/>
            <a:ext cx="320040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2999232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Demo Reel + Carousel · 60–90s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2907792"/>
            <a:ext cx="493776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9752" y="29992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Screen record + Taglish voiceover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29584"/>
            <a:ext cx="146304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621024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Arial"/>
              </a:rPr>
              <a:t>THURSDAY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3529584"/>
            <a:ext cx="201168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56232" y="362102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Arial"/>
              </a:rPr>
              <a:t>TikTok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3529584"/>
            <a:ext cx="320040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3621024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Trend reaction / AI news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3529584"/>
            <a:ext cx="493776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9752" y="362102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Commentary + screen record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151376"/>
            <a:ext cx="146304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" y="4242816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Arial"/>
              </a:rPr>
              <a:t>SATURDAY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83080" y="4151376"/>
            <a:ext cx="201168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56232" y="424281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Arial"/>
              </a:rPr>
              <a:t>Instagram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4151376"/>
            <a:ext cx="320040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13632" y="424281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Reel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4151376"/>
            <a:ext cx="4937760" cy="56692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59752" y="424281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Before/after productivity story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773168"/>
            <a:ext cx="146304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" y="4864608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Arial"/>
              </a:rPr>
              <a:t>ANYTIME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83080" y="4773168"/>
            <a:ext cx="201168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56232" y="486460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D9488"/>
                </a:solidFill>
                <a:latin typeface="Arial"/>
              </a:rPr>
              <a:t>Facebook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4773168"/>
            <a:ext cx="320040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13632" y="4864608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Cross-post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4773168"/>
            <a:ext cx="4937760" cy="56692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59752" y="4864608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Wednesday carousel to FB Page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080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Cross-posting rule: All TikToks → upload natively to Instagram Reels. Never use TikTok cross-post link — native uploads get more reach.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Content Pillars &amp; Hook Formula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64208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2743200" cy="2560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0299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Arial"/>
              </a:rPr>
              <a:t>PILLAR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304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Tool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249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Arial"/>
              </a:rPr>
              <a:t>Mon / Wed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0632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Arial"/>
              </a:rPr>
              <a:t>Highest save rate.
"Paano gamitin ang Claude para sa negosyo mo — libre"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920240"/>
            <a:ext cx="2743200" cy="2560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920240"/>
            <a:ext cx="2743200" cy="381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0299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Arial"/>
              </a:rPr>
              <a:t>PILLAR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304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Before / After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7249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9488"/>
                </a:solidFill>
                <a:latin typeface="Arial"/>
              </a:rPr>
              <a:t>Saturday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30632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Arial"/>
              </a:rPr>
              <a:t>Emotional, shareable.
"3 oras ng trabaho → 5 minuto gamit ang AI"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920240"/>
            <a:ext cx="2743200" cy="2560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20240"/>
            <a:ext cx="2743200" cy="38100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0299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79F9"/>
                </a:solidFill>
                <a:latin typeface="Arial"/>
              </a:rPr>
              <a:t>PILLAR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304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Fear → Reassurance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7249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79F9"/>
                </a:solidFill>
                <a:latin typeface="Arial"/>
              </a:rPr>
              <a:t>Evergreen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0632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Arial"/>
              </a:rPr>
              <a:t>High anxiety = high engagement.
"Hindi ka papalitan ng AI. Papalitan ka ng taong gumagamit."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920240"/>
            <a:ext cx="2743200" cy="25603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920240"/>
            <a:ext cx="274320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20299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4D399"/>
                </a:solidFill>
                <a:latin typeface="Arial"/>
              </a:rPr>
              <a:t>PILLAR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23042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Everyday Filipino Life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27249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Arial"/>
              </a:rPr>
              <a:t>Friday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306324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Arial"/>
              </a:rPr>
              <a:t>Warmth + identity.
Guro, nanay, negosyante stories.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47091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Hook Formula — Every video opens in second 1 with ONE of: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029200"/>
            <a:ext cx="2743200" cy="128016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5102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Arial"/>
              </a:rPr>
              <a:t>FEAR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3766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5E7EB"/>
                </a:solidFill>
                <a:latin typeface="Arial"/>
              </a:rPr>
              <a:t>"Kung BPO worker ka, pakinggan mo 'to."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5029200"/>
            <a:ext cx="2743200" cy="128016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5102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Arial"/>
              </a:rPr>
              <a:t>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5848" y="53766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5E7EB"/>
                </a:solidFill>
                <a:latin typeface="Arial"/>
              </a:rPr>
              <a:t>"30 seconds lang. Tingnan mo 'to." → show immediately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5029200"/>
            <a:ext cx="2743200" cy="128016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5102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Arial"/>
              </a:rPr>
              <a:t>IDENTITY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3766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5E7EB"/>
                </a:solidFill>
                <a:latin typeface="Arial"/>
              </a:rPr>
              <a:t>"May negosyo ka at wala kang marketing budget?"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5029200"/>
            <a:ext cx="2743200" cy="128016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9448" y="5102352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D9488"/>
                </a:solidFill>
                <a:latin typeface="Arial"/>
              </a:rPr>
              <a:t>CURIOSITY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9448" y="53766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5E7EB"/>
                </a:solidFill>
                <a:latin typeface="Arial"/>
              </a:rPr>
              <a:t>"Ito ang tanong na hindi mo pa naitatanong sa AI."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Boost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64208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Rule: Only boost posts with strong organic performance — proven signal = lower CPM.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2487168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81912" y="252374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35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Post organically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5603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3983" y="2487168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252374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3" y="3035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Wait 24–48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1303" y="25603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4927" y="2487168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799" y="252374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7" y="3035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50+ saves OR 200+ shares?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7" y="256032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9E0B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05872" y="2487168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24744" y="252374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F1E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3035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Boost it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429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Budget Tiers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49039"/>
            <a:ext cx="5669280" cy="640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82219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82219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Php 500–1,000 / day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096511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First boost — prove the format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98848"/>
            <a:ext cx="5669280" cy="640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5720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572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Php 2,000–3,000 /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846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Format proven, engagement positive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429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Targeting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8221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📍 Location: Philippines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611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👤 Age: 25–40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000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💡 Interests: technology, online business, productivity, freelancing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13892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🚀 Best boost candidate: 60–90s screen record + Taglish voiceover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📱 First boost platform: Facebook Page (convert profiles first)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KPIs to Track Weekly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64208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5486400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842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920240"/>
            <a:ext cx="3017520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984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MONTH 1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920240"/>
            <a:ext cx="2834640" cy="384048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984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MONTH 3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5486400" cy="5029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688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Followers — TikTok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377440"/>
            <a:ext cx="3017520" cy="5029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4688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100–500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377440"/>
            <a:ext cx="2834640" cy="5029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468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2,000+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44368"/>
            <a:ext cx="548640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358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Avg video views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944368"/>
            <a:ext cx="301752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0358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500–1,000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2944368"/>
            <a:ext cx="283464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3035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5,000+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511296"/>
            <a:ext cx="5486400" cy="5029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60273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Watch completion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511296"/>
            <a:ext cx="3017520" cy="5029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6027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&gt;40%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511296"/>
            <a:ext cx="2834640" cy="5029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3602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&gt;55%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078224"/>
            <a:ext cx="548640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16966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Saves per post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078224"/>
            <a:ext cx="301752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1696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20+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4078224"/>
            <a:ext cx="283464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41696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100+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645152"/>
            <a:ext cx="5486400" cy="5029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7365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Comments per video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645152"/>
            <a:ext cx="3017520" cy="5029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47365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10+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645152"/>
            <a:ext cx="2834640" cy="5029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47365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30+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212080"/>
            <a:ext cx="548640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303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Profile visits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212080"/>
            <a:ext cx="301752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53035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Arial"/>
              </a:rPr>
              <a:t>100+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5212080"/>
            <a:ext cx="283464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53035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Arial"/>
              </a:rPr>
              <a:t>500+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0807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Pull weekly: TikTok Creator Center → Analytics  ·  Instagram Professional Dashboard → Insights  ·  Share screenshots with Jeff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005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Immediate Action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664208"/>
            <a:ext cx="1179576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920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PROFILE FIXES — THIS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331720"/>
            <a:ext cx="557784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441448"/>
            <a:ext cx="3657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3957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Convert both FB personal profiles into one Facebook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98648"/>
            <a:ext cx="557784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008376"/>
            <a:ext cx="3657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9626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Paste new bios on all 4 platforms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65576"/>
            <a:ext cx="557784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575304"/>
            <a:ext cx="3657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52958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Same profile photo across all platforms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32504"/>
            <a:ext cx="557784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142232"/>
            <a:ext cx="3657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0965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Add link-in-bio (IG + TikTok) → GitHub 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99432"/>
            <a:ext cx="557784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709160"/>
            <a:ext cx="3657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Pin best-performing post to top of each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Arial"/>
              </a:rPr>
              <a:t>CONTENT SETUP — THIS 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31720"/>
            <a:ext cx="548640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441448"/>
            <a:ext cx="36576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23957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Film "5 Libreng AI Tools" Reel — priority boost candidate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98648"/>
            <a:ext cx="548640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008376"/>
            <a:ext cx="36576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29626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Create carousel: 5 AI tools for Filipino freelancers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65576"/>
            <a:ext cx="548640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575304"/>
            <a:ext cx="36576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35295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Film 2 more tool demo Reels (1 per week minimum)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032504"/>
            <a:ext cx="548640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142232"/>
            <a:ext cx="36576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0965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Cross-post all TikToks to Instagram Reels natively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9651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79F9"/>
                </a:solidFill>
                <a:latin typeface="Arial"/>
              </a:rPr>
              <a:t>AUTOMATION — WEEKLY CADENCE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376672"/>
            <a:ext cx="548640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36576" cy="256032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5440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Monday: run weekly content brief in Claude Code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943600"/>
            <a:ext cx="548640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6053328"/>
            <a:ext cx="36576" cy="256032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60076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Friday: run trend scan for following week planning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6510528"/>
            <a:ext cx="5486400" cy="47548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0" y="6620256"/>
            <a:ext cx="36576" cy="256032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65745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☐  Monthly: competitor scan to update benchmarks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Niche &amp; Growth Plan  ·  June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651052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CA3AF"/>
                </a:solidFill>
                <a:latin typeface="Arial"/>
              </a:rPr>
              <a:t>Confidential — Internal use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6860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