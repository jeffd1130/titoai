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88952" cy="21945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Arial"/>
              </a:rPr>
              <a:t>CONTENT PLAN &amp; BOOST BUDGET · W25–W27 · JUNE–JULY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Arial"/>
              </a:rPr>
              <a:t>Tito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9E0B"/>
                </a:solidFill>
                <a:latin typeface="Arial"/>
              </a:rPr>
              <a:t>@TitoAIPH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87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5E7EB"/>
                </a:solidFill>
                <a:latin typeface="Arial"/>
              </a:rPr>
              <a:t>3 weeks · 9 posts · Php 6,000 total boost budget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35808"/>
            <a:ext cx="6400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3520440" cy="65836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50800" cy="658368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291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50"/>
                </a:solidFill>
                <a:latin typeface="Arial"/>
              </a:rPr>
              <a:t>W25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91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WEEK 1
TikTok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3246120"/>
            <a:ext cx="3520440" cy="65836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3246120"/>
            <a:ext cx="50800" cy="658368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5" y="3291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13B84"/>
                </a:solidFill>
                <a:latin typeface="Arial"/>
              </a:rPr>
              <a:t>W26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19" y="3291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WEEK 2
TikTok + IG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3246120"/>
            <a:ext cx="3520440" cy="65836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3246120"/>
            <a:ext cx="50800" cy="6583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4735" y="3291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877F2"/>
                </a:solidFill>
                <a:latin typeface="Arial"/>
              </a:rPr>
              <a:t>W27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3291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WEEK 3
All 3 platforms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0507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CD34D"/>
                </a:solidFill>
                <a:latin typeface="Arial"/>
              </a:rPr>
              <a:t>Php 2,000/week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00507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CD34D"/>
                </a:solidFill>
                <a:latin typeface="Arial"/>
              </a:rPr>
              <a:t>Php 2,000/week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00507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CD34D"/>
                </a:solidFill>
                <a:latin typeface="Arial"/>
              </a:rPr>
              <a:t>Php 2,000/week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CA3AF"/>
                </a:solidFill>
                <a:latin typeface="Arial"/>
              </a:rPr>
              <a:t>TOTAL BUDGET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1937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Php 6,000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49377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CA3AF"/>
                </a:solidFill>
                <a:latin typeface="Arial"/>
              </a:rPr>
              <a:t>GOAL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51937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Followers + 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9377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CA3AF"/>
                </a:solidFill>
                <a:latin typeface="Arial"/>
              </a:rPr>
              <a:t>PREPARED BY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1937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Jeff de las Armas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CA3AF"/>
                </a:solidFill>
                <a:latin typeface="Arial"/>
              </a:rPr>
              <a:t>Tito AI @TitoAIPH  ·  Content Plan &amp; Boost Budget W25–W27  ·  June–July 2026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860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54864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69264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Strategy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5727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Arial"/>
              </a:rPr>
              <a:t>Progressive platform ramp-up — build skills and data one platform at a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645920"/>
            <a:ext cx="1179576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847088"/>
            <a:ext cx="11612880" cy="56692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847088"/>
            <a:ext cx="5080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91109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Arial"/>
              </a:rPr>
              <a:t>Weekly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90195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Php 2,000/week · Php 6,000 total across 3 weeks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05456"/>
            <a:ext cx="11612880" cy="56692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505456"/>
            <a:ext cx="50800" cy="5669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56946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Arial"/>
              </a:rPr>
              <a:t>Posts per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5603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3 posts boosted — Mon AI Tip · Wed Demo · Fri 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163824"/>
            <a:ext cx="11612880" cy="56692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163824"/>
            <a:ext cx="50800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22783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Arial"/>
              </a:rPr>
              <a:t>Primary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218688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Increase followers and video views across TikTok, Instagram, Facebook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22191"/>
            <a:ext cx="11612880" cy="56692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822191"/>
            <a:ext cx="50800" cy="566928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886199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79F9"/>
                </a:solidFill>
                <a:latin typeface="Arial"/>
              </a:rPr>
              <a:t>Boost objective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877055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Video views (TikTok) · Profile visits (Instagram) · Reach/Page likes (Facebook)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480560"/>
            <a:ext cx="11612880" cy="56692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480560"/>
            <a:ext cx="50800" cy="566928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454456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D34D"/>
                </a:solidFill>
                <a:latin typeface="Arial"/>
              </a:rPr>
              <a:t>Targeting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4535424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Philippines · Age 22–45 · Interests: Technology, Freelancing, Education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212080"/>
            <a:ext cx="11612880" cy="118872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285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Arial"/>
              </a:rPr>
              <a:t>PLATFORM RAMP-UP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468112"/>
            <a:ext cx="3566160" cy="82296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504688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W25
Jun 15–21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55046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50"/>
                </a:solidFill>
                <a:latin typeface="Arial"/>
              </a:rPr>
              <a:t>🎵 TikTok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CA3AF"/>
                </a:solidFill>
                <a:latin typeface="Arial"/>
              </a:rPr>
              <a:t>Learn TikTok
Promote mechanics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22192" y="55778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  <a:latin typeface="Arial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5468112"/>
            <a:ext cx="3566160" cy="822960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5504688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W26
Jun 22–28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55046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13B84"/>
                </a:solidFill>
                <a:latin typeface="Arial"/>
              </a:rPr>
              <a:t>🎵 TikTok  +  📸 Instagram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CA3AF"/>
                </a:solidFill>
                <a:latin typeface="Arial"/>
              </a:rPr>
              <a:t>Add Instagram
with data from W25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08392" y="55778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  <a:latin typeface="Arial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5468112"/>
            <a:ext cx="3566160" cy="82296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5504688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W27
Jun 29–Jul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41480" y="55046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877F2"/>
                </a:solidFill>
                <a:latin typeface="Arial"/>
              </a:rPr>
              <a:t>🎵 TikTok  +  📸 IG  +  📘 Facebook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4148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CA3AF"/>
                </a:solidFill>
                <a:latin typeface="Arial"/>
              </a:rPr>
              <a:t>Full 3-platform push
(FB Page required)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CA3AF"/>
                </a:solidFill>
                <a:latin typeface="Arial"/>
              </a:rPr>
              <a:t>Tito AI @TitoAIPH  ·  Content Plan &amp; Boost Budget W25–W27  ·  June–July 2026 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860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54864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69264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3-Week Content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5727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Arial"/>
              </a:rPr>
              <a:t>9 posts · Mon/Wed/Fri each week · All drop at 7:00–8:00 PM PHT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645920"/>
            <a:ext cx="1179576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755648"/>
            <a:ext cx="731520" cy="32918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810512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755648"/>
            <a:ext cx="1097280" cy="32918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1810512"/>
            <a:ext cx="10424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755648"/>
            <a:ext cx="3566160" cy="32918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57984" y="1810512"/>
            <a:ext cx="3511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Post / Topic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755648"/>
            <a:ext cx="2377440" cy="32918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24144" y="1810512"/>
            <a:ext cx="23225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Hook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755648"/>
            <a:ext cx="1371600" cy="32918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1584" y="1810512"/>
            <a:ext cx="13167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Platform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1755648"/>
            <a:ext cx="1417320" cy="32918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73184" y="1810512"/>
            <a:ext cx="1362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Budget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35640" y="1755648"/>
            <a:ext cx="1417320" cy="32918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90504" y="1810512"/>
            <a:ext cx="1362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Boost Dates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39696"/>
            <a:ext cx="73152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" y="2139696"/>
            <a:ext cx="109728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03120" y="2139696"/>
            <a:ext cx="356616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0" y="2139696"/>
            <a:ext cx="237744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2139696"/>
            <a:ext cx="137160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18320" y="2139696"/>
            <a:ext cx="141732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35640" y="2139696"/>
            <a:ext cx="141732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2139696"/>
            <a:ext cx="731520" cy="438912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23113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W25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139696"/>
            <a:ext cx="731520" cy="438912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24942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W25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2176272"/>
            <a:ext cx="1024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  <a:latin typeface="Arial"/>
              </a:rPr>
              <a:t>MON
Jun 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2231136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Claude o Gemini: Kailan Mo Gagamitin?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2231136"/>
            <a:ext cx="2304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CD34D"/>
                </a:solidFill>
                <a:latin typeface="Arial"/>
              </a:rPr>
              <a:t>"Claude o Gemini — alin ang mas tama?"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19872" y="2231136"/>
            <a:ext cx="1225296" cy="256032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9872" y="2249424"/>
            <a:ext cx="1225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TikTok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2231136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Arial"/>
              </a:rPr>
              <a:t>Php 700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2231136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Jun 17–18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615184"/>
            <a:ext cx="73152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5840" y="2615184"/>
            <a:ext cx="109728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03120" y="2615184"/>
            <a:ext cx="356616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0" y="2615184"/>
            <a:ext cx="237744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0" y="2615184"/>
            <a:ext cx="137160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18320" y="2615184"/>
            <a:ext cx="141732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835640" y="2615184"/>
            <a:ext cx="141732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2706624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50"/>
                </a:solidFill>
                <a:latin typeface="Arial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615184"/>
            <a:ext cx="731520" cy="438912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272491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W25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2651760"/>
            <a:ext cx="1024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  <a:latin typeface="Arial"/>
              </a:rPr>
              <a:t>WED
Jun 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48840" y="2706624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Gumawa ng Resume Gamit ang Claude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15000" y="2706624"/>
            <a:ext cx="2304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CD34D"/>
                </a:solidFill>
                <a:latin typeface="Arial"/>
              </a:rPr>
              <a:t>"10 segundos lang ang binibigay ng recruiter sa resume mo."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19872" y="2706624"/>
            <a:ext cx="1225296" cy="256032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19872" y="2724912"/>
            <a:ext cx="1225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TikTok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64040" y="2706624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Arial"/>
              </a:rPr>
              <a:t>Php 700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81360" y="2706624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Jun 19–20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090672"/>
            <a:ext cx="73152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5840" y="3090672"/>
            <a:ext cx="109728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03120" y="3090672"/>
            <a:ext cx="356616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69280" y="3090672"/>
            <a:ext cx="237744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046720" y="3090672"/>
            <a:ext cx="137160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418320" y="3090672"/>
            <a:ext cx="141732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835640" y="3090672"/>
            <a:ext cx="141732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" y="3182112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50"/>
                </a:solidFill>
                <a:latin typeface="Arial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3090672"/>
            <a:ext cx="731520" cy="438912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" y="320040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W25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" y="3127248"/>
            <a:ext cx="1024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  <a:latin typeface="Arial"/>
              </a:rPr>
              <a:t>FRI
Jun 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48840" y="3182112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Father's Day Para Sa Php 2,000 — Tito AI Tries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15000" y="3182112"/>
            <a:ext cx="2304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CD34D"/>
                </a:solidFill>
                <a:latin typeface="Arial"/>
              </a:rPr>
              <a:t>"Php 2,000. Father's Day ngayong weekend. Kayang-kaya ba ni Claude?"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19872" y="3182112"/>
            <a:ext cx="1225296" cy="256032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19872" y="3200400"/>
            <a:ext cx="1225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TikTok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64040" y="3182112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Arial"/>
              </a:rPr>
              <a:t>Php 600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81360" y="3182112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Jun 21–22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3566160"/>
            <a:ext cx="73152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05840" y="3566160"/>
            <a:ext cx="109728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103120" y="3566160"/>
            <a:ext cx="356616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669280" y="3566160"/>
            <a:ext cx="237744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0" y="3566160"/>
            <a:ext cx="137160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418320" y="3566160"/>
            <a:ext cx="141732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835640" y="3566160"/>
            <a:ext cx="141732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74320" y="3566160"/>
            <a:ext cx="731520" cy="438912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" y="365760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W26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3566160"/>
            <a:ext cx="731520" cy="438912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0040" y="3675888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W26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1560" y="3602736"/>
            <a:ext cx="1024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  <a:latin typeface="Arial"/>
              </a:rPr>
              <a:t>MON
Jun 22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48840" y="3657600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Ang Sabi Nila: Pang-Matalino Lang Iyan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15000" y="3657600"/>
            <a:ext cx="2304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CD34D"/>
                </a:solidFill>
                <a:latin typeface="Arial"/>
              </a:rPr>
              <a:t>"Sabi nila: pang-matalino lang iyan. Tignan mo 'to."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119872" y="3657600"/>
            <a:ext cx="1225296" cy="256032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119872" y="3675888"/>
            <a:ext cx="1225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TikTok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464040" y="3657600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Arial"/>
              </a:rPr>
              <a:t>Php 700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881360" y="3657600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Jun 23–24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4041648"/>
            <a:ext cx="73152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05840" y="4041648"/>
            <a:ext cx="109728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103120" y="4041648"/>
            <a:ext cx="356616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669280" y="4041648"/>
            <a:ext cx="237744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046720" y="4041648"/>
            <a:ext cx="137160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418320" y="4041648"/>
            <a:ext cx="141732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835640" y="4041648"/>
            <a:ext cx="141732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20040" y="4133088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13B84"/>
                </a:solidFill>
                <a:latin typeface="Arial"/>
              </a:rPr>
              <a:t/>
            </a:r>
          </a:p>
        </p:txBody>
      </p:sp>
      <p:sp>
        <p:nvSpPr>
          <p:cNvPr id="99" name="Rectangle 98"/>
          <p:cNvSpPr/>
          <p:nvPr/>
        </p:nvSpPr>
        <p:spPr>
          <a:xfrm>
            <a:off x="274320" y="4041648"/>
            <a:ext cx="731520" cy="438912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20040" y="415137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W26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1560" y="4078224"/>
            <a:ext cx="1024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  <a:latin typeface="Arial"/>
              </a:rPr>
              <a:t>WED
Jun 25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48840" y="4133088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Gemini para sa Guro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715000" y="4133088"/>
            <a:ext cx="2304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CD34D"/>
                </a:solidFill>
                <a:latin typeface="Arial"/>
              </a:rPr>
              <a:t>"Guro ka? 30 minuto ng lesson plan → 2 minuto gamit ito."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119872" y="4133088"/>
            <a:ext cx="1225296" cy="256032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119872" y="4151376"/>
            <a:ext cx="1225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Instagram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464040" y="4133088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Arial"/>
              </a:rPr>
              <a:t>Php 700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881360" y="4133088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Jun 26–27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4320" y="4517136"/>
            <a:ext cx="73152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05840" y="4517136"/>
            <a:ext cx="109728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103120" y="4517136"/>
            <a:ext cx="356616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669280" y="4517136"/>
            <a:ext cx="237744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046720" y="4517136"/>
            <a:ext cx="137160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418320" y="4517136"/>
            <a:ext cx="141732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835640" y="4517136"/>
            <a:ext cx="141732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20040" y="460857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13B84"/>
                </a:solidFill>
                <a:latin typeface="Arial"/>
              </a:rPr>
              <a:t/>
            </a:r>
          </a:p>
        </p:txBody>
      </p:sp>
      <p:sp>
        <p:nvSpPr>
          <p:cNvPr id="116" name="Rectangle 115"/>
          <p:cNvSpPr/>
          <p:nvPr/>
        </p:nvSpPr>
        <p:spPr>
          <a:xfrm>
            <a:off x="274320" y="4517136"/>
            <a:ext cx="731520" cy="438912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20040" y="462686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W26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51560" y="4553712"/>
            <a:ext cx="1024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  <a:latin typeface="Arial"/>
              </a:rPr>
              <a:t>FRI
Jun 27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148840" y="4608576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1 Buwan Kasama Tito AI — Ang Resulta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15000" y="4608576"/>
            <a:ext cx="2304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CD34D"/>
                </a:solidFill>
                <a:latin typeface="Arial"/>
              </a:rPr>
              <a:t>"1 buwan na tayo. Ano na ang natutuhan natin?"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119872" y="4608576"/>
            <a:ext cx="1225296" cy="256032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119872" y="4626864"/>
            <a:ext cx="1225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TikTok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464040" y="4608576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Arial"/>
              </a:rPr>
              <a:t>Php 600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881360" y="4608576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Jun 28–29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74320" y="4992624"/>
            <a:ext cx="73152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05840" y="4992624"/>
            <a:ext cx="109728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103120" y="4992624"/>
            <a:ext cx="356616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669280" y="4992624"/>
            <a:ext cx="237744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046720" y="4992624"/>
            <a:ext cx="137160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418320" y="4992624"/>
            <a:ext cx="141732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0835640" y="4992624"/>
            <a:ext cx="141732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74320" y="4992624"/>
            <a:ext cx="731520" cy="438912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20040" y="5084064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W27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74320" y="4992624"/>
            <a:ext cx="731520" cy="438912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20040" y="510235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W27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51560" y="5029200"/>
            <a:ext cx="1024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  <a:latin typeface="Arial"/>
              </a:rPr>
              <a:t>MON
Jun 30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148840" y="5084064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July Teaser — Ano ang Susunod?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715000" y="5084064"/>
            <a:ext cx="2304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CD34D"/>
                </a:solidFill>
                <a:latin typeface="Arial"/>
              </a:rPr>
              <a:t>"Sa July — mas malalim. Mas praktikal. Mas libre."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119872" y="5084064"/>
            <a:ext cx="1225296" cy="256032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119872" y="5102352"/>
            <a:ext cx="1225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TikTok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464040" y="5084064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Arial"/>
              </a:rPr>
              <a:t>Php 600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881360" y="5084064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Jul 1–2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74320" y="5468112"/>
            <a:ext cx="73152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05840" y="5468112"/>
            <a:ext cx="109728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103120" y="5468112"/>
            <a:ext cx="356616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69280" y="5468112"/>
            <a:ext cx="237744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046720" y="5468112"/>
            <a:ext cx="137160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418320" y="5468112"/>
            <a:ext cx="141732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0835640" y="5468112"/>
            <a:ext cx="141732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20040" y="5559552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877F2"/>
                </a:solidFill>
                <a:latin typeface="Arial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274320" y="5468112"/>
            <a:ext cx="731520" cy="438912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20040" y="557784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W27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51560" y="5504688"/>
            <a:ext cx="1024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  <a:latin typeface="Arial"/>
              </a:rPr>
              <a:t>WED
Jul 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148840" y="5559552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TBD — Wednesday Demo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715000" y="5559552"/>
            <a:ext cx="2304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CD34D"/>
                </a:solidFill>
                <a:latin typeface="Arial"/>
              </a:rPr>
              <a:t>TBD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119872" y="5559552"/>
            <a:ext cx="1225296" cy="256032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119872" y="5577840"/>
            <a:ext cx="1225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Facebook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464040" y="5559552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Arial"/>
              </a:rPr>
              <a:t>Php 800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881360" y="5559552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Jul 3–4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74320" y="5943600"/>
            <a:ext cx="73152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005840" y="5943600"/>
            <a:ext cx="109728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2103120" y="5943600"/>
            <a:ext cx="356616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5669280" y="5943600"/>
            <a:ext cx="237744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046720" y="5943600"/>
            <a:ext cx="137160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418320" y="5943600"/>
            <a:ext cx="141732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0835640" y="5943600"/>
            <a:ext cx="141732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20040" y="603504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877F2"/>
                </a:solidFill>
                <a:latin typeface="Arial"/>
              </a:rPr>
              <a:t/>
            </a:r>
          </a:p>
        </p:txBody>
      </p:sp>
      <p:sp>
        <p:nvSpPr>
          <p:cNvPr id="168" name="Rectangle 167"/>
          <p:cNvSpPr/>
          <p:nvPr/>
        </p:nvSpPr>
        <p:spPr>
          <a:xfrm>
            <a:off x="274320" y="5943600"/>
            <a:ext cx="731520" cy="438912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20040" y="6053328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W27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51560" y="5980176"/>
            <a:ext cx="1024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  <a:latin typeface="Arial"/>
              </a:rPr>
              <a:t>FRI
Jul 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148840" y="6035040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TBD — Friday Story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715000" y="6035040"/>
            <a:ext cx="2304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CD34D"/>
                </a:solidFill>
                <a:latin typeface="Arial"/>
              </a:rPr>
              <a:t>TBD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119872" y="6035040"/>
            <a:ext cx="1225296" cy="256032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119872" y="6053328"/>
            <a:ext cx="1225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Instagram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464040" y="6035040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Arial"/>
              </a:rPr>
              <a:t>Php 600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881360" y="6035040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Jul 5–6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74320" y="6419088"/>
            <a:ext cx="11978640" cy="32918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29184" y="646480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TOTAL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464040" y="6464808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D34D"/>
                </a:solidFill>
                <a:latin typeface="Arial"/>
              </a:rPr>
              <a:t>Php 6,000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CA3AF"/>
                </a:solidFill>
                <a:latin typeface="Arial"/>
              </a:rPr>
              <a:t>Tito AI @TitoAIPH  ·  Content Plan &amp; Boost Budget W25–W27  ·  June–July 2026  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16860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73152" cy="475488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69264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Week 1 — W25 · Jun 15–21 · TikTok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5727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Arial"/>
              </a:rPr>
              <a:t>Goal: Learn TikTok Promote · establish baseline cost-per-view and cost-per-follower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645920"/>
            <a:ext cx="11795760" cy="2540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792224"/>
            <a:ext cx="5669280" cy="310896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🎵  TIKTOK PROMOTE — Php 2,000 total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76272"/>
            <a:ext cx="5669280" cy="65836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176272"/>
            <a:ext cx="50800" cy="658368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24942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50"/>
                </a:solidFill>
                <a:latin typeface="Arial"/>
              </a:rPr>
              <a:t>MON · Jun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50545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Claude o Gemini: Kailan Mo Gagamitin?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2494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Php 350/day × 2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267712"/>
            <a:ext cx="1280160" cy="45720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3317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Arial"/>
              </a:rPr>
              <a:t>Php 700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26079"/>
            <a:ext cx="5669280" cy="65836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926079"/>
            <a:ext cx="50800" cy="658368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999231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50"/>
                </a:solidFill>
                <a:latin typeface="Arial"/>
              </a:rPr>
              <a:t>WED · Jun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255263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Gumawa ng Resume Gamit ang Claude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999231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Php 350/day × 2 days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3017519"/>
            <a:ext cx="1280160" cy="45720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081527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Arial"/>
              </a:rPr>
              <a:t>Php 700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675887"/>
            <a:ext cx="5669280" cy="65836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675887"/>
            <a:ext cx="50800" cy="658368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3749039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50"/>
                </a:solidFill>
                <a:latin typeface="Arial"/>
              </a:rPr>
              <a:t>FRI · Jun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4005071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Father's Day Para Sa Php 2,000 — Tito AI Tries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749039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Php 300/day × 2 days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3767327"/>
            <a:ext cx="1280160" cy="45720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831335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Arial"/>
              </a:rPr>
              <a:t>Php 600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443984"/>
            <a:ext cx="5669280" cy="38404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5079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W25 TOTAL: Php 2,000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792224"/>
            <a:ext cx="5486400" cy="310896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18288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HOW TO SET UP — TikTok Promote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176272"/>
            <a:ext cx="5486400" cy="59436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2176272"/>
            <a:ext cx="822960" cy="59436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2322576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96912" y="224942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Open TikTok app → go to the posted video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862072"/>
            <a:ext cx="5486400" cy="5943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2862072"/>
            <a:ext cx="822960" cy="59436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3008376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6912" y="293522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Tap the share icon (arrow) → tap "Promote"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547872"/>
            <a:ext cx="5486400" cy="59436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3547872"/>
            <a:ext cx="822960" cy="59436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55664" y="3694176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96912" y="362102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Goal: select "More video views" (NOT followers — views are cheaper and drive algorithm which brings followers)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233672"/>
            <a:ext cx="5486400" cy="5943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4233672"/>
            <a:ext cx="822960" cy="59436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55664" y="4379976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96912" y="430682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Audience: select "Automatic" — Smart targeting outperforms manual on new accounts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919472"/>
            <a:ext cx="5486400" cy="59436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0" y="4919472"/>
            <a:ext cx="822960" cy="59436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55664" y="5065776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STEP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96912" y="499262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Duration: 2 days · Budget: Php 300–350/day · Confirm payment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5605272"/>
            <a:ext cx="5486400" cy="5943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0" y="5605272"/>
            <a:ext cx="822960" cy="59436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55664" y="5751576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STEP 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96912" y="567842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Start: morning after posting (not same night — let organic play first for 8–12 hrs)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4901184"/>
            <a:ext cx="11612880" cy="27432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956048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CD34D"/>
                </a:solidFill>
                <a:latin typeface="Arial"/>
              </a:rPr>
              <a:t>W25 TIKTOK TARGETS (after 3 boosts):   Reach 9,000+   Views 15,000+   New followers 60–120   Cost per follow &lt; Php 25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CA3AF"/>
                </a:solidFill>
                <a:latin typeface="Arial"/>
              </a:rPr>
              <a:t>Tito AI @TitoAIPH  ·  Content Plan &amp; Boost Budget W25–W27  ·  June–July 2026 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6860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73152" cy="475488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69264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Week 2 — W26 · Jun 22–28 · TikTok +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5727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Arial"/>
              </a:rPr>
              <a:t>Goal: Apply W25 learnings · add Instagram Boost · compare cost-per-follow across two platforms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645920"/>
            <a:ext cx="11795760" cy="25400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792224"/>
            <a:ext cx="5394960" cy="310896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🎵 TikTok Promote — Php 1,300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76272"/>
            <a:ext cx="5394960" cy="65836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176272"/>
            <a:ext cx="50800" cy="658368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24942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50"/>
                </a:solidFill>
                <a:latin typeface="Arial"/>
              </a:rPr>
              <a:t>MON · Jun 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50545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Ang Sabi Nila: Pang-Matalino Lang Iyan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24942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Php 350/day × 2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2267712"/>
            <a:ext cx="1371600" cy="45720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3317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Arial"/>
              </a:rPr>
              <a:t>Php 700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26079"/>
            <a:ext cx="5394960" cy="65836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926079"/>
            <a:ext cx="50800" cy="658368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999231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50"/>
                </a:solidFill>
                <a:latin typeface="Arial"/>
              </a:rPr>
              <a:t>FRI · Jun 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255263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1 Buwan Kasama Tito AI — Ang Resulta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2999231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Php 300/day × 2 days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3017519"/>
            <a:ext cx="1371600" cy="45720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081527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Arial"/>
              </a:rPr>
              <a:t>Php 600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792224"/>
            <a:ext cx="5760720" cy="310896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8288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📸 Instagram Boost — Php 700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176272"/>
            <a:ext cx="5760720" cy="65836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2176272"/>
            <a:ext cx="50800" cy="658368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24942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13B84"/>
                </a:solidFill>
                <a:latin typeface="Arial"/>
              </a:rPr>
              <a:t>WED · Jun 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250545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Gemini para sa Guro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224942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Php 350/day × 2 days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32720" y="2267712"/>
            <a:ext cx="1371600" cy="45720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23317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Arial"/>
              </a:rPr>
              <a:t>Php 700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980944"/>
            <a:ext cx="5760720" cy="25603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0175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13B84"/>
                </a:solidFill>
                <a:latin typeface="Arial"/>
              </a:rPr>
              <a:t>HOW TO SET UP — Instagram Boost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291840"/>
            <a:ext cx="5760720" cy="38404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3291840"/>
            <a:ext cx="329184" cy="384048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4768" y="3383280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3558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Open Instagram → go to the posted Reel or carousel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3730752"/>
            <a:ext cx="5760720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3730752"/>
            <a:ext cx="329184" cy="384048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4768" y="3822192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7947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Tap "Boost Post" button below the post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4169664"/>
            <a:ext cx="5760720" cy="38404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0" y="4169664"/>
            <a:ext cx="329184" cy="384048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4768" y="4261104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2336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Goal: select "More profile visits" — drives follow intent best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4608576"/>
            <a:ext cx="5760720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26480" y="4608576"/>
            <a:ext cx="329184" cy="384048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44768" y="4700016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467258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Audience: "Automatic" (let IG optimize) → Philippines auto-detected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5047488"/>
            <a:ext cx="5760720" cy="38404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26480" y="5047488"/>
            <a:ext cx="329184" cy="384048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44768" y="5138928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1114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Duration: 2 days · Budget: Php 350/day · Tap "Boost"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5486400"/>
            <a:ext cx="5760720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26480" y="5486400"/>
            <a:ext cx="329184" cy="384048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44768" y="5577840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55504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Check results in "Boosted Posts" inside Instagram Insights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767328"/>
            <a:ext cx="5394960" cy="34747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3822191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TikTok: Php 1,300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0" y="3767328"/>
            <a:ext cx="5760720" cy="347472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63640" y="3822191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Instagram: Php 700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901184"/>
            <a:ext cx="11612880" cy="27432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4956048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CD34D"/>
                </a:solidFill>
                <a:latin typeface="Arial"/>
              </a:rPr>
              <a:t>W26 TARGETS:   TikTok 6,000+ views · IG 1,500+ reach · New followers 80–150 combined · Compare CPF across platforms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524865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Arial"/>
              </a:rPr>
              <a:t>W26 TOTAL: Php 2,000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CA3AF"/>
                </a:solidFill>
                <a:latin typeface="Arial"/>
              </a:rPr>
              <a:t>Tito AI @TitoAIPH  ·  Content Plan &amp; Boost Budget W25–W27  ·  June–July 2026 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6860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73152" cy="47548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69264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Week 3 — W27 · Jun 29–Jul 5 · All 3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5727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Arial"/>
              </a:rPr>
              <a:t>Goal: Full 3-platform push · compare results · decide where to scale budget in July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645920"/>
            <a:ext cx="11795760" cy="2540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792224"/>
            <a:ext cx="3749039" cy="3291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792224"/>
            <a:ext cx="3749039" cy="5080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8836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0050"/>
                </a:solidFill>
                <a:latin typeface="Arial"/>
              </a:rPr>
              <a:t>🎵 TikTok Promote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249424"/>
            <a:ext cx="3474720" cy="27432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295144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Arial"/>
              </a:rPr>
              <a:t>Php 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63347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50"/>
                </a:solidFill>
                <a:latin typeface="Arial"/>
              </a:rPr>
              <a:t>MON · Jun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9077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July Teaser — Ano ang Susunod?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29184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  <a:latin typeface="Arial"/>
              </a:rPr>
              <a:t>Php 300/day × 2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54787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Arial"/>
              </a:rPr>
              <a:t>Boost: Jul 1–2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80390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E5E7EB"/>
                </a:solidFill>
                <a:latin typeface="Arial"/>
              </a:rPr>
              <a:t>Video views · Automatic audience · Start Jul 1 morning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1104" y="1792224"/>
            <a:ext cx="3749039" cy="3291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1104" y="1792224"/>
            <a:ext cx="3749039" cy="50800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2" y="18836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13B84"/>
                </a:solidFill>
                <a:latin typeface="Arial"/>
              </a:rPr>
              <a:t>📸 Instagram Boost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2249424"/>
            <a:ext cx="3474720" cy="27432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2295144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Arial"/>
              </a:rPr>
              <a:t>Php 600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263347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13B84"/>
                </a:solidFill>
                <a:latin typeface="Arial"/>
              </a:rPr>
              <a:t>FRI · Jul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2" y="29077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TBD — Friday Story / Inspiration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329184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  <a:latin typeface="Arial"/>
              </a:rPr>
              <a:t>Php 300/day × 2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354787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Arial"/>
              </a:rPr>
              <a:t>Boost: Jul 5–6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380390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E5E7EB"/>
                </a:solidFill>
                <a:latin typeface="Arial"/>
              </a:rPr>
              <a:t>Profile visits · Automatic audience · Start Jul 5 morning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47888" y="1792224"/>
            <a:ext cx="3749039" cy="3291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47888" y="1792224"/>
            <a:ext cx="3749039" cy="5080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6" y="18836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77F2"/>
                </a:solidFill>
                <a:latin typeface="Arial"/>
              </a:rPr>
              <a:t>📘 Facebook Boost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57616" y="2249424"/>
            <a:ext cx="3474720" cy="27432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2295144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Arial"/>
              </a:rPr>
              <a:t>Php 800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6" y="263347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877F2"/>
                </a:solidFill>
                <a:latin typeface="Arial"/>
              </a:rPr>
              <a:t>WED · Jul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29077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TBD — Wednesday Demo / Tutorial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329184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  <a:latin typeface="Arial"/>
              </a:rPr>
              <a:t>Php 400/day × 2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354787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Arial"/>
              </a:rPr>
              <a:t>Boost: Jul 3–4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380390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E5E7EB"/>
                </a:solidFill>
                <a:latin typeface="Arial"/>
              </a:rPr>
              <a:t>Reach + Page likes · PH 22–45 · Tech + Freelancing interests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175504"/>
            <a:ext cx="11612880" cy="566928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5175504"/>
            <a:ext cx="63500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" y="52303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⚠️  BEFORE WEEK 3: Facebook Page required to run any paid boost. Convert personal FB profiles to a Facebook Page at facebook.com/pages/create  →  "Business or brand."  Personal profiles CANNOT boost or access analytics.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797296"/>
            <a:ext cx="11612880" cy="32918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8521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W27 TOTAL: Php 2,000  ·  TikTok Php 600  ·  Instagram Php 600  ·  Facebook Php 800  ·  3-Week Grand Total: Php 6,000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CA3AF"/>
                </a:solidFill>
                <a:latin typeface="Arial"/>
              </a:rPr>
              <a:t>Tito AI @TitoAIPH  ·  Content Plan &amp; Boost Budget W25–W27  ·  June–July 2026 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860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54864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69264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Budget Summary — 3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5727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Arial"/>
              </a:rPr>
              <a:t>Php 6,000 total · Php 2,000/week · progressive platform ramp-up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645920"/>
            <a:ext cx="1179576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792224"/>
            <a:ext cx="109728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828800"/>
            <a:ext cx="1042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Arial"/>
              </a:rPr>
              <a:t>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792224"/>
            <a:ext cx="228600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6464" y="182880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Arial"/>
              </a:rPr>
              <a:t>TikTok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792224"/>
            <a:ext cx="228600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182880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Arial"/>
              </a:rPr>
              <a:t>Instagram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792224"/>
            <a:ext cx="228600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98464" y="1828800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Arial"/>
              </a:rPr>
              <a:t>Facebook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792224"/>
            <a:ext cx="146304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828800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Arial"/>
              </a:rPr>
              <a:t>Weekly Total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1792224"/>
            <a:ext cx="164592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47504" y="1828800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Arial"/>
              </a:rPr>
              <a:t>New Followers Target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338560" y="1792224"/>
            <a:ext cx="109728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93424" y="1828800"/>
            <a:ext cx="1042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Arial"/>
              </a:rPr>
              <a:t># Platforms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212848"/>
            <a:ext cx="1097280" cy="78638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" y="2340864"/>
            <a:ext cx="10241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50"/>
                </a:solidFill>
                <a:latin typeface="Arial"/>
              </a:rPr>
              <a:t>W25
Jun 15–21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2212848"/>
            <a:ext cx="2286000" cy="78638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6464" y="2340864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0050"/>
                </a:solidFill>
                <a:latin typeface="Arial"/>
              </a:rPr>
              <a:t>Php 2,000
(3 posts × TikTok)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2212848"/>
            <a:ext cx="2286000" cy="78638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12464" y="2340864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212848"/>
            <a:ext cx="2286000" cy="78638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98464" y="2340864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212848"/>
            <a:ext cx="1463040" cy="78638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2340864"/>
            <a:ext cx="1389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Arial"/>
              </a:rPr>
              <a:t>Php 2,000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2212848"/>
            <a:ext cx="1645920" cy="78638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47504" y="2340864"/>
            <a:ext cx="1572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60–120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338560" y="2212848"/>
            <a:ext cx="1097280" cy="78638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93424" y="2340864"/>
            <a:ext cx="10241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127248"/>
            <a:ext cx="1097280" cy="78638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" y="3255264"/>
            <a:ext cx="10241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13B84"/>
                </a:solidFill>
                <a:latin typeface="Arial"/>
              </a:rPr>
              <a:t>W26
Jun 22–28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3127248"/>
            <a:ext cx="2286000" cy="78638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26464" y="3255264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0050"/>
                </a:solidFill>
                <a:latin typeface="Arial"/>
              </a:rPr>
              <a:t>Php 1,300
(2 posts × TikTok)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3127248"/>
            <a:ext cx="2286000" cy="78638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12464" y="3255264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13B84"/>
                </a:solidFill>
                <a:latin typeface="Arial"/>
              </a:rPr>
              <a:t>Php 700
(1 post × IG)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3127248"/>
            <a:ext cx="2286000" cy="78638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98464" y="3255264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3127248"/>
            <a:ext cx="1463040" cy="78638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84464" y="3255264"/>
            <a:ext cx="1389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Arial"/>
              </a:rPr>
              <a:t>Php 2,000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92640" y="3127248"/>
            <a:ext cx="1645920" cy="78638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47504" y="3255264"/>
            <a:ext cx="1572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80–150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338560" y="3127248"/>
            <a:ext cx="1097280" cy="78638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393424" y="3255264"/>
            <a:ext cx="10241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041648"/>
            <a:ext cx="1097280" cy="78638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9184" y="4169664"/>
            <a:ext cx="10241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877F2"/>
                </a:solidFill>
                <a:latin typeface="Arial"/>
              </a:rPr>
              <a:t>W27
Jun 29–Jul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0" y="4041648"/>
            <a:ext cx="2286000" cy="78638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26464" y="4169664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0050"/>
                </a:solidFill>
                <a:latin typeface="Arial"/>
              </a:rPr>
              <a:t>Php 600
(1 post × TikTok)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0" y="4041648"/>
            <a:ext cx="2286000" cy="78638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12464" y="4169664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13B84"/>
                </a:solidFill>
                <a:latin typeface="Arial"/>
              </a:rPr>
              <a:t>Php 600
(1 post × IG)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0" y="4041648"/>
            <a:ext cx="2286000" cy="78638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98464" y="4169664"/>
            <a:ext cx="2212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877F2"/>
                </a:solidFill>
                <a:latin typeface="Arial"/>
              </a:rPr>
              <a:t>Php 800
(1 post × FB)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0" y="4041648"/>
            <a:ext cx="1463040" cy="78638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84464" y="4169664"/>
            <a:ext cx="1389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Arial"/>
              </a:rPr>
              <a:t>Php 2,000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92640" y="4041648"/>
            <a:ext cx="1645920" cy="78638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47504" y="4169664"/>
            <a:ext cx="1572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100–180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338560" y="4041648"/>
            <a:ext cx="1097280" cy="78638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393424" y="4169664"/>
            <a:ext cx="10241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956048"/>
            <a:ext cx="12161520" cy="38404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9184" y="5047488"/>
            <a:ext cx="1024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GRAND TOTAL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26464" y="5047488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50"/>
                </a:solidFill>
                <a:latin typeface="Arial"/>
              </a:rPr>
              <a:t>Php 3,900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12464" y="5047488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13B84"/>
                </a:solidFill>
                <a:latin typeface="Arial"/>
              </a:rPr>
              <a:t>Php 1,300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98464" y="5047488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877F2"/>
                </a:solidFill>
                <a:latin typeface="Arial"/>
              </a:rPr>
              <a:t>Php 800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84464" y="5047488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D34D"/>
                </a:solidFill>
                <a:latin typeface="Arial"/>
              </a:rPr>
              <a:t>Php 6,000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47504" y="5047488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Arial"/>
              </a:rPr>
              <a:t>240–450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5577840"/>
            <a:ext cx="11612880" cy="80467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74320" y="5577840"/>
            <a:ext cx="50800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563270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Arial"/>
              </a:rPr>
              <a:t>SCALE RULE — WEEK 4+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587044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If any post earns 50+ new followers → extend that post 2 more days at same daily rate
If cost-per-follow drops below Php 12 on any platform → increase that platform's weekly budget by Php 400
Platform with lowest cost-per-follow gets biggest budget allocation in July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CA3AF"/>
                </a:solidFill>
                <a:latin typeface="Arial"/>
              </a:rPr>
              <a:t>Tito AI @TitoAIPH  ·  Content Plan &amp; Boost Budget W25–W27  ·  June–July 2026 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6860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54864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69264"/>
            <a:ext cx="11704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KPIs &amp; Scale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5727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Arial"/>
              </a:rPr>
              <a:t>Track weekly · pull every Sunday · share screenshots with Jeff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645920"/>
            <a:ext cx="1179576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792224"/>
            <a:ext cx="3749039" cy="310896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82880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TikTok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57984"/>
            <a:ext cx="3749039" cy="47548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1284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7EB"/>
                </a:solidFill>
                <a:latin typeface="Arial"/>
              </a:rPr>
              <a:t>Reach per boosted 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23113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Arial"/>
              </a:rPr>
              <a:t>3,000+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3113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Arial"/>
              </a:rPr>
              <a:t>6,000+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88336"/>
            <a:ext cx="3749039" cy="4754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74320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7EB"/>
                </a:solidFill>
                <a:latin typeface="Arial"/>
              </a:rPr>
              <a:t>Video views per 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76148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Arial"/>
              </a:rPr>
              <a:t>5,000+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6148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Arial"/>
              </a:rPr>
              <a:t>12,000+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18687"/>
            <a:ext cx="3749039" cy="47548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73551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7EB"/>
                </a:solidFill>
                <a:latin typeface="Arial"/>
              </a:rPr>
              <a:t>New followers (3 posts)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291839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Arial"/>
              </a:rPr>
              <a:t>60–120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291839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Arial"/>
              </a:rPr>
              <a:t>200+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49039"/>
            <a:ext cx="3749039" cy="4754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803903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7EB"/>
                </a:solidFill>
                <a:latin typeface="Arial"/>
              </a:rPr>
              <a:t>Cost per follow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3822191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Arial"/>
              </a:rPr>
              <a:t>&lt; Php 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822191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Arial"/>
              </a:rPr>
              <a:t>&lt; Php 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279392"/>
            <a:ext cx="3749039" cy="47548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33425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7EB"/>
                </a:solidFill>
                <a:latin typeface="Arial"/>
              </a:rPr>
              <a:t>Watch completion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3525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Arial"/>
              </a:rPr>
              <a:t>&gt; 35%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3525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Arial"/>
              </a:rPr>
              <a:t>&gt; 50%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157984"/>
            <a:ext cx="3749039" cy="201168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18541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rial"/>
              </a:rPr>
              <a:t>Metric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2185416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W1 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2185416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W3 Target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61104" y="1792224"/>
            <a:ext cx="3749039" cy="310896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70832" y="182880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Instagram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61104" y="2157984"/>
            <a:ext cx="3749039" cy="47548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221284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7EB"/>
                </a:solidFill>
                <a:latin typeface="Arial"/>
              </a:rPr>
              <a:t>Reach per boosted post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9944" y="223113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Arial"/>
              </a:rPr>
              <a:t>2,000+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87184" y="223113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Arial"/>
              </a:rPr>
              <a:t>5,000+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61104" y="2688336"/>
            <a:ext cx="3749039" cy="4754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52544" y="274320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7EB"/>
                </a:solidFill>
                <a:latin typeface="Arial"/>
              </a:rPr>
              <a:t>Profile visits per 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9944" y="276148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Arial"/>
              </a:rPr>
              <a:t>200+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87184" y="276148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Arial"/>
              </a:rPr>
              <a:t>600+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61104" y="3218687"/>
            <a:ext cx="3749039" cy="47548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52544" y="3273551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7EB"/>
                </a:solidFill>
                <a:latin typeface="Arial"/>
              </a:rPr>
              <a:t>New followers (per boost)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9944" y="3291839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Arial"/>
              </a:rPr>
              <a:t>20–40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87184" y="3291839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Arial"/>
              </a:rPr>
              <a:t>100+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61104" y="3749039"/>
            <a:ext cx="3749039" cy="4754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52544" y="3803903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7EB"/>
                </a:solidFill>
                <a:latin typeface="Arial"/>
              </a:rPr>
              <a:t>Cost per follow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9944" y="3822191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Arial"/>
              </a:rPr>
              <a:t>&lt; Php 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87184" y="3822191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Arial"/>
              </a:rPr>
              <a:t>&lt; Php 15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61104" y="4279392"/>
            <a:ext cx="3749039" cy="47548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52544" y="433425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7EB"/>
                </a:solidFill>
                <a:latin typeface="Arial"/>
              </a:rPr>
              <a:t>Saves per post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9944" y="43525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Arial"/>
              </a:rPr>
              <a:t>20+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87184" y="43525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Arial"/>
              </a:rPr>
              <a:t>80+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61104" y="2157984"/>
            <a:ext cx="3749039" cy="201168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52544" y="218541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rial"/>
              </a:rPr>
              <a:t>Metric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9944" y="2185416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W1 Target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87184" y="2185416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W3 Target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47888" y="1792224"/>
            <a:ext cx="3749039" cy="310896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57616" y="182880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Facebook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47888" y="2157984"/>
            <a:ext cx="3749039" cy="47548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39328" y="221284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7EB"/>
                </a:solidFill>
                <a:latin typeface="Arial"/>
              </a:rPr>
              <a:t>Reach per boosted post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96728" y="223113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Arial"/>
              </a:rPr>
              <a:t>2,500+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73968" y="223113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Arial"/>
              </a:rPr>
              <a:t>6,000+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47888" y="2688336"/>
            <a:ext cx="3749039" cy="4754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274320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7EB"/>
                </a:solidFill>
                <a:latin typeface="Arial"/>
              </a:rPr>
              <a:t>New Page likes per boost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96728" y="276148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Arial"/>
              </a:rPr>
              <a:t>20–40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173968" y="276148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Arial"/>
              </a:rPr>
              <a:t>100+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47888" y="3218687"/>
            <a:ext cx="3749039" cy="47548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39328" y="3273551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7EB"/>
                </a:solidFill>
                <a:latin typeface="Arial"/>
              </a:rPr>
              <a:t>Cost per Page like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96728" y="3291839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Arial"/>
              </a:rPr>
              <a:t>&lt; Php 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73968" y="3291839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Arial"/>
              </a:rPr>
              <a:t>&lt; Php 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47888" y="3749039"/>
            <a:ext cx="3749039" cy="4754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39328" y="3803903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7EB"/>
                </a:solidFill>
                <a:latin typeface="Arial"/>
              </a:rPr>
              <a:t>Link clicks (to IG/TikTok)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96728" y="3822191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Arial"/>
              </a:rPr>
              <a:t>50+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173968" y="3822191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Arial"/>
              </a:rPr>
              <a:t>200+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47888" y="4279392"/>
            <a:ext cx="3749039" cy="47548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39328" y="433425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7EB"/>
                </a:solidFill>
                <a:latin typeface="Arial"/>
              </a:rPr>
              <a:t>Active (starts W27 only)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96728" y="43525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Arial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173968" y="43525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Arial"/>
              </a:rPr>
              <a:t>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47888" y="2157984"/>
            <a:ext cx="3749039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39328" y="218541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rial"/>
              </a:rPr>
              <a:t>Metric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96728" y="2185416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W1 Target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173968" y="2185416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W3 Target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4882896"/>
            <a:ext cx="11612880" cy="4754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7200" y="49377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Arial"/>
              </a:rPr>
              <a:t>WHERE TO PULL RESULTS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51389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TikTok: Creator Center → Analytics + Promote tab  ·  Instagram: Professional Dashboard → Boosted post results  ·  Facebook: Business Suite → Insights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5431536"/>
            <a:ext cx="11612880" cy="80467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74320" y="5431536"/>
            <a:ext cx="50800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548640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Arial"/>
              </a:rPr>
              <a:t>SCALE RULES AFTER W27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200" y="5742432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7EB"/>
                </a:solidFill>
                <a:latin typeface="Arial"/>
              </a:rPr>
              <a:t>▸  50+ followers from a single boost → extend 2 more days at same daily rate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5907024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7EB"/>
                </a:solidFill>
                <a:latin typeface="Arial"/>
              </a:rPr>
              <a:t>▸  Cost-per-follow &lt; Php 12 on any platform → add Php 400 to that platform's weekly budget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" y="6071616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7EB"/>
                </a:solidFill>
                <a:latin typeface="Arial"/>
              </a:rPr>
              <a:t>▸  Platform with lowest CPF gets biggest share of July budget (min Php 800, max Php 1,500/week)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7200" y="6236208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E7EB"/>
                </a:solidFill>
                <a:latin typeface="Arial"/>
              </a:rPr>
              <a:t>▸  Any post with &lt; 20 followers after boost → swap platform or slot next week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CA3AF"/>
                </a:solidFill>
                <a:latin typeface="Arial"/>
              </a:rPr>
              <a:t>Tito AI @TitoAIPH  ·  Content Plan &amp; Boost Budget W25–W27  ·  June–July 2026 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6860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