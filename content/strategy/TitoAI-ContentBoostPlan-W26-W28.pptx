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Arial"/>
              </a:rPr>
              <a:t>CONTENT PLAN &amp; BOOST BUDGET · W26–W28 · JUNE–JULY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Arial"/>
              </a:rPr>
              <a:t>Tito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600" b="1" i="0">
                <a:solidFill>
                  <a:srgbClr val="F59E0B"/>
                </a:solidFill>
                <a:latin typeface="Arial"/>
              </a:rPr>
              <a:t>@TitoAIPH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0864"/>
            <a:ext cx="10972800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0" i="0">
                <a:solidFill>
                  <a:srgbClr val="E5E7EB"/>
                </a:solidFill>
                <a:latin typeface="Arial"/>
              </a:rPr>
              <a:t>3 weeks · 9 posts · Php 6,000 total · Launch: Jun 22,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71216"/>
            <a:ext cx="6400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035808"/>
            <a:ext cx="3520440" cy="60350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035808"/>
            <a:ext cx="50800" cy="60350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090672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0050"/>
                </a:solidFill>
                <a:latin typeface="Arial"/>
              </a:rPr>
              <a:t>W26  Jun 22–28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73552"/>
            <a:ext cx="32918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TikTok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12463"/>
            <a:ext cx="32918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CD34D"/>
                </a:solidFill>
                <a:latin typeface="Arial"/>
              </a:rPr>
              <a:t>Php 2,000/week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3035808"/>
            <a:ext cx="3520440" cy="60350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79" y="3035808"/>
            <a:ext cx="50800" cy="60350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7" y="3090672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C13B84"/>
                </a:solidFill>
                <a:latin typeface="Arial"/>
              </a:rPr>
              <a:t>W27  Jun 29–Jul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3273552"/>
            <a:ext cx="32918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TikTok + Instagram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3712463"/>
            <a:ext cx="32918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CD34D"/>
                </a:solidFill>
                <a:latin typeface="Arial"/>
              </a:rPr>
              <a:t>Php 2,000/week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19" y="3035808"/>
            <a:ext cx="3520440" cy="60350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9" y="3035808"/>
            <a:ext cx="50800" cy="60350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6447" y="3090672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1877F2"/>
                </a:solidFill>
                <a:latin typeface="Arial"/>
              </a:rPr>
              <a:t>W28  Jul 6–12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6447" y="3273552"/>
            <a:ext cx="32918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All 3 platforms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6447" y="3712463"/>
            <a:ext cx="32918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CD34D"/>
                </a:solidFill>
                <a:latin typeface="Arial"/>
              </a:rPr>
              <a:t>Php 2,000/week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10912"/>
            <a:ext cx="36576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TOTAL 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3657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Php 6,000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010912"/>
            <a:ext cx="36576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LAUNCH 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5257800"/>
            <a:ext cx="3657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Jun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5010912"/>
            <a:ext cx="36576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GOAL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5257800"/>
            <a:ext cx="3657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Followers +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Target Market — Mga Pamangkin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Who we reach · Why they follow · Why they share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11640312" cy="3291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5080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36599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FCD34D"/>
                </a:solidFill>
                <a:latin typeface="Arial"/>
              </a:rPr>
              <a:t>"The warm, relatable Tito who teaches everyday Filipinos to use AI for free — before it replaces their job."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5943600" cy="7680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194560"/>
            <a:ext cx="50800" cy="7680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67712"/>
            <a:ext cx="21945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Arial"/>
              </a:rPr>
              <a:t>FREELANCERS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267712"/>
            <a:ext cx="34747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1.5M+ in 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42032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Fear: clients will use AI instead. Need: faster proposals, better deliverables. High share rate.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5943600" cy="7680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017520"/>
            <a:ext cx="50800" cy="7680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90672"/>
            <a:ext cx="21945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0D9488"/>
                </a:solidFill>
                <a:latin typeface="Arial"/>
              </a:rPr>
              <a:t>GURO / TEACHERS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090672"/>
            <a:ext cx="34747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900K+ DepEd public school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64992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Fear: curriculum disruption. Need: lesson plans, grading, parent comms. One guro → 40 families.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840480"/>
            <a:ext cx="5943600" cy="7680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840480"/>
            <a:ext cx="50800" cy="7680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21945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0050"/>
                </a:solidFill>
                <a:latin typeface="Arial"/>
              </a:rPr>
              <a:t>BPO WORKERS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913632"/>
            <a:ext cx="34747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1.9M employees (BSP 2025)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187952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Fear: automation layoffs. Need: upskill NOW. Fastest-adopting audience for AI education content.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663440"/>
            <a:ext cx="5943600" cy="7680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4663440"/>
            <a:ext cx="50800" cy="768096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21945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E879F9"/>
                </a:solidFill>
                <a:latin typeface="Arial"/>
              </a:rPr>
              <a:t>NANAYS / TATAYS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34747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Stay-at-home + working parents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10912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Fear: left behind. Need: family budgeting, homework help, meal planning, schedule management.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486400"/>
            <a:ext cx="5943600" cy="7680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5486400"/>
            <a:ext cx="50800" cy="768096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559552"/>
            <a:ext cx="21945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877F2"/>
                </a:solidFill>
                <a:latin typeface="Arial"/>
              </a:rPr>
              <a:t>SMALL BUSI. OWNERS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559552"/>
            <a:ext cx="34747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SME operators — 14.9% use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833872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Fear: competition. Need: AI for marketing, customer service, operations. Highest spend intent.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2194560"/>
            <a:ext cx="5422392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2240280"/>
            <a:ext cx="523951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AUDIENCE PROFILE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2560320"/>
            <a:ext cx="5422392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2633472"/>
            <a:ext cx="1417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Age range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2633472"/>
            <a:ext cx="3749039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22–45 · Philippines · Taglish-speaking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3054096"/>
            <a:ext cx="5422392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3127248"/>
            <a:ext cx="1417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Pain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3127248"/>
            <a:ext cx="3749039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Afraid AI will replace them before they learn to use 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47872"/>
            <a:ext cx="5422392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0" y="3621024"/>
            <a:ext cx="1417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Motivation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3621024"/>
            <a:ext cx="3749039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Practical wins · Libre tools · No jargon · Real examples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4041648"/>
            <a:ext cx="5422392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0" y="4114800"/>
            <a:ext cx="1417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Share trigger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4114800"/>
            <a:ext cx="3749039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Posts that say 'this is for me' — specific personas, Php budgets, local context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535424"/>
            <a:ext cx="5422392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0" y="4608576"/>
            <a:ext cx="1417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Watch trigger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4608576"/>
            <a:ext cx="3749039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Hooks that name their job or fear in the first 2 seconds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5029200"/>
            <a:ext cx="5422392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5102352"/>
            <a:ext cx="1417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CTA response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5102352"/>
            <a:ext cx="3749039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YES/NO questions · budget comments · 'I-try ko ito' replies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92240" y="5522976"/>
            <a:ext cx="5422392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0" y="5596128"/>
            <a:ext cx="1417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Best platform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0" y="5596128"/>
            <a:ext cx="3749039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TikTok for discovery · Instagram for saves · Facebook for community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6016752"/>
            <a:ext cx="5422392" cy="38404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0" y="6080760"/>
            <a:ext cx="5239512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12.7M Filipinos exposed to AI disruption (ILO 2026) — almost none have a Taglish guide. Tito AI = first mover.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Boost Strategy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Php 2,000/week · 3 posts/week · progressive platform ramp-up · launch Jun 22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11640312" cy="4754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5080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47088"/>
            <a:ext cx="246888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Arial"/>
              </a:rPr>
              <a:t>Weekly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847088"/>
            <a:ext cx="8595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Php 2,000/week · Php 6,000 total across 3 weeks (W26–W28)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31720"/>
            <a:ext cx="11640312" cy="4754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31720"/>
            <a:ext cx="50800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95728"/>
            <a:ext cx="246888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0D9488"/>
                </a:solidFill>
                <a:latin typeface="Arial"/>
              </a:rPr>
              <a:t>Posts per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395728"/>
            <a:ext cx="8595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3 posts boosted each week — Mon AI Tip · Wed Demo · Fri Story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880360"/>
            <a:ext cx="11640312" cy="4754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80360"/>
            <a:ext cx="50800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44368"/>
            <a:ext cx="246888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Arial"/>
              </a:rPr>
              <a:t>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944368"/>
            <a:ext cx="8595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Increase followers and video views. Target: 240–450 new followers over 3 weeks.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429000"/>
            <a:ext cx="11640312" cy="4754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429000"/>
            <a:ext cx="50800" cy="475488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93008"/>
            <a:ext cx="246888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E879F9"/>
                </a:solidFill>
                <a:latin typeface="Arial"/>
              </a:rPr>
              <a:t>Boost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493008"/>
            <a:ext cx="8595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Video views (TikTok Promote) · Profile visits (Instagram) · Reach + Page likes (Facebook)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977640"/>
            <a:ext cx="11640312" cy="4754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977640"/>
            <a:ext cx="50800" cy="475488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41648"/>
            <a:ext cx="246888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CD34D"/>
                </a:solidFill>
                <a:latin typeface="Arial"/>
              </a:rPr>
              <a:t>Audience targeting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4041648"/>
            <a:ext cx="8595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Philippines · Age 22–45 · Taglish · Tech / Freelancing / Education interests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617720"/>
            <a:ext cx="11640312" cy="16276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690872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PLATFORM RAMP-UP  ·  One platform per week, add another each week until all 3 are running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946904"/>
            <a:ext cx="3712463" cy="12435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946904"/>
            <a:ext cx="3712463" cy="508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5020056"/>
            <a:ext cx="3529583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WEEK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" y="5257800"/>
            <a:ext cx="3529583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W26  Jun 22–28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" y="5495544"/>
            <a:ext cx="3438143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22976"/>
            <a:ext cx="3346703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1" i="0">
                <a:solidFill>
                  <a:srgbClr val="FF0050"/>
                </a:solidFill>
                <a:latin typeface="Arial"/>
              </a:rPr>
              <a:t>TikTok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5806440"/>
            <a:ext cx="3529583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Learn TikTok Promote · baseline CPV + CPF · lowest risk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06623" y="5916168"/>
            <a:ext cx="1371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52544" y="4946904"/>
            <a:ext cx="3712463" cy="12435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52544" y="4946904"/>
            <a:ext cx="3712463" cy="508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0" y="5020056"/>
            <a:ext cx="3529583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WEEK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257800"/>
            <a:ext cx="3529583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W27  Jun 29–Jul 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5495544"/>
            <a:ext cx="3438143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5522976"/>
            <a:ext cx="3346703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1" i="0">
                <a:solidFill>
                  <a:srgbClr val="C13B84"/>
                </a:solidFill>
                <a:latin typeface="Arial"/>
              </a:rPr>
              <a:t>TikTok + Instagram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0560" y="5806440"/>
            <a:ext cx="3529583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Add IG Boost · compare cost-per-follow · two platforms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7" y="5916168"/>
            <a:ext cx="1371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47888" y="4946904"/>
            <a:ext cx="3712463" cy="12435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47888" y="4946904"/>
            <a:ext cx="3712463" cy="508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75904" y="5020056"/>
            <a:ext cx="3529583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75904" y="5257800"/>
            <a:ext cx="3529583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W28  Jul 6–12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75904" y="5495544"/>
            <a:ext cx="3438143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0768" y="5522976"/>
            <a:ext cx="3346703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1" i="0">
                <a:solidFill>
                  <a:srgbClr val="1877F2"/>
                </a:solidFill>
                <a:latin typeface="Arial"/>
              </a:rPr>
              <a:t>All 3 platforms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5904" y="5806440"/>
            <a:ext cx="3529583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Full push · FB Page required · scale winners in July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7311" y="5916168"/>
            <a:ext cx="1371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3-Week Content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9 posts · Mon AI Tip / Wed Demo / Fri Story · drop 7–8 PM PHT · launch Jun 22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713232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837944"/>
            <a:ext cx="64008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783080"/>
            <a:ext cx="105156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37944"/>
            <a:ext cx="97840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Drop 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9112" y="1783080"/>
            <a:ext cx="1024128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4832" y="1837944"/>
            <a:ext cx="9509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783080"/>
            <a:ext cx="3547872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837944"/>
            <a:ext cx="347472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Post / Topic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11112" y="1783080"/>
            <a:ext cx="1572768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1837944"/>
            <a:ext cx="149961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783080"/>
            <a:ext cx="1316736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837944"/>
            <a:ext cx="1243584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00616" y="1783080"/>
            <a:ext cx="2414016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46336" y="1837944"/>
            <a:ext cx="2340864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Boost Dates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093976"/>
            <a:ext cx="71323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7552" y="2093976"/>
            <a:ext cx="105156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39112" y="2093976"/>
            <a:ext cx="102412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63240" y="2093976"/>
            <a:ext cx="354787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11112" y="2093976"/>
            <a:ext cx="157276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80" y="2093976"/>
            <a:ext cx="131673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00616" y="2093976"/>
            <a:ext cx="241401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2093976"/>
            <a:ext cx="713232" cy="42062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" y="2185416"/>
            <a:ext cx="65836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2185416"/>
            <a:ext cx="9784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Jun 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4832" y="2185416"/>
            <a:ext cx="9509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MON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2148840"/>
            <a:ext cx="34747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Ang Sabi Nila: Pang-Matalino Lang Iyan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65976" y="2176272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5976" y="2194560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185416"/>
            <a:ext cx="124358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46336" y="2185416"/>
            <a:ext cx="234086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Jun 23–24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2514600"/>
            <a:ext cx="71323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7552" y="2514600"/>
            <a:ext cx="105156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39112" y="2514600"/>
            <a:ext cx="102412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63240" y="2514600"/>
            <a:ext cx="354787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611112" y="2514600"/>
            <a:ext cx="157276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83880" y="2514600"/>
            <a:ext cx="131673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0616" y="2514600"/>
            <a:ext cx="241401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2514600"/>
            <a:ext cx="713232" cy="42062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896" y="2606040"/>
            <a:ext cx="65836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" y="2606040"/>
            <a:ext cx="9784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Jun 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84832" y="2606040"/>
            <a:ext cx="9509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2569464"/>
            <a:ext cx="34747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Gemini para sa Guro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65976" y="2596896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5976" y="2615184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2606040"/>
            <a:ext cx="124358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46336" y="2606040"/>
            <a:ext cx="234086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Jun 26–27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935224"/>
            <a:ext cx="71323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7552" y="2935224"/>
            <a:ext cx="105156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039112" y="2935224"/>
            <a:ext cx="102412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63240" y="2935224"/>
            <a:ext cx="354787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611112" y="2935224"/>
            <a:ext cx="157276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183880" y="2935224"/>
            <a:ext cx="131673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0616" y="2935224"/>
            <a:ext cx="241401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74320" y="2935224"/>
            <a:ext cx="713232" cy="42062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10896" y="3026664"/>
            <a:ext cx="65836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" y="3026664"/>
            <a:ext cx="9784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Jun 27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84832" y="3026664"/>
            <a:ext cx="9509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FRI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08960" y="2990088"/>
            <a:ext cx="34747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1 Buwan Kasama Tito AI — Ang Resulta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65976" y="3017520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65976" y="3035808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0" y="3026664"/>
            <a:ext cx="124358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46336" y="3026664"/>
            <a:ext cx="234086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Jun 28–29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3355848"/>
            <a:ext cx="71323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7552" y="3355848"/>
            <a:ext cx="105156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39112" y="3355848"/>
            <a:ext cx="102412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063240" y="3355848"/>
            <a:ext cx="354787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11112" y="3355848"/>
            <a:ext cx="157276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83880" y="3355848"/>
            <a:ext cx="131673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500616" y="3355848"/>
            <a:ext cx="241401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74320" y="3355848"/>
            <a:ext cx="713232" cy="42062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" y="3447288"/>
            <a:ext cx="65836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3272" y="3447288"/>
            <a:ext cx="9784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Jun 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84832" y="3447288"/>
            <a:ext cx="9509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MON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0" y="3410712"/>
            <a:ext cx="34747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July Teaser — Ano ang Susunod?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665976" y="3438144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665976" y="3456432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3447288"/>
            <a:ext cx="124358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46336" y="3447288"/>
            <a:ext cx="234086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1–2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3776472"/>
            <a:ext cx="71323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87552" y="3776472"/>
            <a:ext cx="105156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039112" y="3776472"/>
            <a:ext cx="102412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063240" y="3776472"/>
            <a:ext cx="354787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611112" y="3776472"/>
            <a:ext cx="157276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183880" y="3776472"/>
            <a:ext cx="131673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500616" y="3776472"/>
            <a:ext cx="241401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3776472"/>
            <a:ext cx="713232" cy="42062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10896" y="3867912"/>
            <a:ext cx="65836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3272" y="3867912"/>
            <a:ext cx="9784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Jul 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84832" y="3867912"/>
            <a:ext cx="9509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WED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08960" y="3831336"/>
            <a:ext cx="34747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665976" y="3858768"/>
            <a:ext cx="1463040" cy="25603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665976" y="3877056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29600" y="3867912"/>
            <a:ext cx="124358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46336" y="3867912"/>
            <a:ext cx="234086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3–4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" y="4197096"/>
            <a:ext cx="71323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87552" y="4197096"/>
            <a:ext cx="105156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039112" y="4197096"/>
            <a:ext cx="102412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063240" y="4197096"/>
            <a:ext cx="354787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611112" y="4197096"/>
            <a:ext cx="157276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183880" y="4197096"/>
            <a:ext cx="131673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500616" y="4197096"/>
            <a:ext cx="241401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74320" y="4197096"/>
            <a:ext cx="713232" cy="42062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10896" y="4288536"/>
            <a:ext cx="65836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3272" y="4288536"/>
            <a:ext cx="9784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Jul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84832" y="4288536"/>
            <a:ext cx="9509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FRI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08960" y="4251960"/>
            <a:ext cx="34747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TBD — Friday Story / Inspiration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665976" y="4279392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665976" y="4297680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0" y="4288536"/>
            <a:ext cx="124358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546336" y="4288536"/>
            <a:ext cx="234086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5–6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74320" y="4617720"/>
            <a:ext cx="71323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87552" y="4617720"/>
            <a:ext cx="105156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039112" y="4617720"/>
            <a:ext cx="102412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063240" y="4617720"/>
            <a:ext cx="354787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611112" y="4617720"/>
            <a:ext cx="157276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183880" y="4617720"/>
            <a:ext cx="131673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500616" y="4617720"/>
            <a:ext cx="241401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74320" y="4617720"/>
            <a:ext cx="713232" cy="42062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10896" y="4709160"/>
            <a:ext cx="65836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33272" y="4709160"/>
            <a:ext cx="9784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Jul 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084832" y="4709160"/>
            <a:ext cx="9509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MON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108960" y="4672584"/>
            <a:ext cx="34747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TBD — Monday AI Tip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665976" y="4700016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665976" y="4718304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709160"/>
            <a:ext cx="124358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46336" y="4709160"/>
            <a:ext cx="234086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8–9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74320" y="5038344"/>
            <a:ext cx="71323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87552" y="5038344"/>
            <a:ext cx="105156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039112" y="5038344"/>
            <a:ext cx="102412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063240" y="5038344"/>
            <a:ext cx="354787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611112" y="5038344"/>
            <a:ext cx="157276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8183880" y="5038344"/>
            <a:ext cx="131673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9500616" y="5038344"/>
            <a:ext cx="241401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74320" y="5038344"/>
            <a:ext cx="713232" cy="42062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10896" y="5129784"/>
            <a:ext cx="65836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3272" y="5129784"/>
            <a:ext cx="9784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Jul 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84832" y="5129784"/>
            <a:ext cx="9509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WED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108960" y="5093208"/>
            <a:ext cx="34747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665976" y="5120640"/>
            <a:ext cx="1463040" cy="25603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665976" y="5138928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229600" y="5129784"/>
            <a:ext cx="124358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800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546336" y="5129784"/>
            <a:ext cx="234086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10–11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74320" y="5458968"/>
            <a:ext cx="71323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987552" y="5458968"/>
            <a:ext cx="105156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039112" y="5458968"/>
            <a:ext cx="102412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063240" y="5458968"/>
            <a:ext cx="354787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611112" y="5458968"/>
            <a:ext cx="157276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183880" y="5458968"/>
            <a:ext cx="131673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500616" y="5458968"/>
            <a:ext cx="241401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74320" y="5458968"/>
            <a:ext cx="713232" cy="42062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10896" y="5550408"/>
            <a:ext cx="65836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33272" y="5550408"/>
            <a:ext cx="9784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Jul 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084832" y="5550408"/>
            <a:ext cx="9509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FRI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108960" y="5513832"/>
            <a:ext cx="34747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TBD — Friday Story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665976" y="5541264"/>
            <a:ext cx="1463040" cy="25603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665976" y="5559552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229600" y="5550408"/>
            <a:ext cx="124358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546336" y="5550408"/>
            <a:ext cx="2340864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12–13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74320" y="5879592"/>
            <a:ext cx="713232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87552" y="5879592"/>
            <a:ext cx="1051560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039112" y="5879592"/>
            <a:ext cx="1024128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063240" y="5879592"/>
            <a:ext cx="3547872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611112" y="5879592"/>
            <a:ext cx="1572768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183880" y="5879592"/>
            <a:ext cx="1316736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500616" y="5879592"/>
            <a:ext cx="2414016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20040" y="5925312"/>
            <a:ext cx="2743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TOTAL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108960" y="5925312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9 posts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229600" y="5916168"/>
            <a:ext cx="124358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CD34D"/>
                </a:solidFill>
                <a:latin typeface="Arial"/>
              </a:rPr>
              <a:t>Php 6,000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546336" y="5925312"/>
            <a:ext cx="2340864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Arial"/>
              </a:rPr>
              <a:t>3 weeks · 3 platforms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rial"/>
              </a:rPr>
              <a:t>Week 1 — W26 · Jun 22–28 · TikTok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Learn TikTok Promote mechanics · establish baseline cost-per-view and cost-per-follower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557784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5303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🎵  TIKTOK PROMOTE — ALL 3 POSTS  ·  Php 2,000 total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55778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30552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MON · Jun 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86584"/>
            <a:ext cx="36576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Ang Sabi Nila: Pang-Matalino Lang Iyan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130552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Php 350/day × 2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386584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Boost: Jun 23–24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185416"/>
            <a:ext cx="1463040" cy="4572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2221992"/>
            <a:ext cx="14630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770632"/>
            <a:ext cx="557784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770632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843784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WED · Jun 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99816"/>
            <a:ext cx="36576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Gemini para sa Guro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843784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Php 350/day × 2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099816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Boost: Jun 26–27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898648"/>
            <a:ext cx="1463040" cy="45720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60520" y="2935224"/>
            <a:ext cx="14630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83864"/>
            <a:ext cx="55778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483864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57016"/>
            <a:ext cx="14630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FRI · Jun 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813048"/>
            <a:ext cx="36576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1 Buwan Kasama Tito AI — Ang Resulta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3557016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Php 300/day × 2 days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3813048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Boost: Jun 28–29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3611880"/>
            <a:ext cx="1463040" cy="4572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60520" y="3648456"/>
            <a:ext cx="14630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197096"/>
            <a:ext cx="5577840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251960"/>
            <a:ext cx="530352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W26 WEEK TOTAL:  Php 2,000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1783080"/>
            <a:ext cx="5788152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1837944"/>
            <a:ext cx="560527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HOW TO SET UP — TikTok Promote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2057400"/>
            <a:ext cx="5788152" cy="4053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0" y="2057400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63056" y="2103120"/>
            <a:ext cx="256032" cy="35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112264"/>
            <a:ext cx="5312664" cy="313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Open TikTok app → go to the posted video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2462784"/>
            <a:ext cx="5788152" cy="4053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2462784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3056" y="2508504"/>
            <a:ext cx="256032" cy="35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0528" y="2517648"/>
            <a:ext cx="5312664" cy="313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Tap share icon (arrow) → tap "Promote"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2868168"/>
            <a:ext cx="5788152" cy="4053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0" y="2868168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63056" y="2913888"/>
            <a:ext cx="256032" cy="35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0528" y="2923032"/>
            <a:ext cx="5312664" cy="313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Goal: select "More video views" — NOT followers. Views are cheaper and drive the algorithm, which brings followers organically.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3273552"/>
            <a:ext cx="5788152" cy="4053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26480" y="3273552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63056" y="3319272"/>
            <a:ext cx="256032" cy="35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3328416"/>
            <a:ext cx="5312664" cy="313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Audience: select "Automatic" — Smart targeting outperforms manual on new accounts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3678936"/>
            <a:ext cx="5788152" cy="4053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3678936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3056" y="3724656"/>
            <a:ext cx="256032" cy="35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10528" y="3733800"/>
            <a:ext cx="5312664" cy="313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Duration: 2 days · Budget: Php 300–350/day · Confirm payment method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26480" y="4084320"/>
            <a:ext cx="5788152" cy="4053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26480" y="4084320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63056" y="4130040"/>
            <a:ext cx="256032" cy="35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10528" y="4139184"/>
            <a:ext cx="5312664" cy="313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Start: morning AFTER posting (let organic play 8–12 hrs first for best CPV)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4581144"/>
            <a:ext cx="1164031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320" y="4581144"/>
            <a:ext cx="50800" cy="3108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645152"/>
            <a:ext cx="1136599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CD34D"/>
                </a:solidFill>
                <a:latin typeface="Arial"/>
              </a:rPr>
              <a:t>W26 TARGETS:  Reach 9,000+  ·  Views 15,000+  ·  New followers 60–120  ·  Cost-per-follow target &lt; Php 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4965192"/>
            <a:ext cx="11640312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038344"/>
            <a:ext cx="11365992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💡  Tips: Use a strong hook in the first 2 seconds · film face-cam for highest CTR · end with a YES/NO question to boost comment rate · reply to all comments in the first hour after posting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rial"/>
              </a:rPr>
              <a:t>Week 2 — W27 · Jun 29–Jul 5 · TikTok + Instagram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Apply W26 learnings · add Instagram Boost · compare cost-per-follow across two platforms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5669280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37944"/>
            <a:ext cx="53949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BUDGET BREAKDOWN — 3 POSTS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5669280" cy="65836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0800" cy="65836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4630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0050"/>
                </a:solidFill>
                <a:latin typeface="Arial"/>
              </a:rPr>
              <a:t>MON · Jun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68296"/>
            <a:ext cx="32918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July Teaser — Ano ang Susunod?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2121408"/>
            <a:ext cx="1417320" cy="21945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130552"/>
            <a:ext cx="1417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2121408"/>
            <a:ext cx="1371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Php 350/day × 2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386584"/>
            <a:ext cx="13716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Boost: Jul 1–2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2167128"/>
            <a:ext cx="73152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203704"/>
            <a:ext cx="7315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715768"/>
            <a:ext cx="5669280" cy="65836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715768"/>
            <a:ext cx="50800" cy="65836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779776"/>
            <a:ext cx="14630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C13B84"/>
                </a:solidFill>
                <a:latin typeface="Arial"/>
              </a:rPr>
              <a:t>WED · Jul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026664"/>
            <a:ext cx="32918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2779776"/>
            <a:ext cx="1417320" cy="21945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2788920"/>
            <a:ext cx="1417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Instagram Boost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2779776"/>
            <a:ext cx="1371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Php 350/day × 2 days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3008" y="3044952"/>
            <a:ext cx="13716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Boost: Jul 3–4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2825496"/>
            <a:ext cx="73152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862072"/>
            <a:ext cx="7315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374136"/>
            <a:ext cx="5669280" cy="65836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374136"/>
            <a:ext cx="50800" cy="65836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438144"/>
            <a:ext cx="14630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0050"/>
                </a:solidFill>
                <a:latin typeface="Arial"/>
              </a:rPr>
              <a:t>FRI · Jul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685032"/>
            <a:ext cx="32918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TBD — Friday Story / Inspiration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11680" y="3438144"/>
            <a:ext cx="1417320" cy="21945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3447288"/>
            <a:ext cx="1417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93008" y="3438144"/>
            <a:ext cx="1371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Php 300/day × 2 days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93008" y="3703320"/>
            <a:ext cx="13716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Boost: Jul 5–6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00600" y="3483864"/>
            <a:ext cx="73152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00600" y="3520440"/>
            <a:ext cx="73152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032504"/>
            <a:ext cx="5669280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096512"/>
            <a:ext cx="539496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W27 WEEK TOTAL:  Php 2,000  (TikTok Php 1,300  +  Instagram Php 700)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1783080"/>
            <a:ext cx="5696712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1837944"/>
            <a:ext cx="551383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🎵 TikTok Promote — same steps as Week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2057400"/>
            <a:ext cx="569671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2130552"/>
            <a:ext cx="11887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0050"/>
                </a:solidFill>
                <a:latin typeface="Arial"/>
              </a:rPr>
              <a:t>Goal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43800" y="2130552"/>
            <a:ext cx="427939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More video views · Duration: 2 days · Php 300–350/day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459736"/>
            <a:ext cx="569671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2532888"/>
            <a:ext cx="11887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0050"/>
                </a:solidFill>
                <a:latin typeface="Arial"/>
              </a:rPr>
              <a:t>Audience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43800" y="2532888"/>
            <a:ext cx="427939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Automatic · Start boost morning after posting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2862072"/>
            <a:ext cx="569671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2935224"/>
            <a:ext cx="11887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F0050"/>
                </a:solidFill>
                <a:latin typeface="Arial"/>
              </a:rPr>
              <a:t>New in W27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43800" y="2935224"/>
            <a:ext cx="427939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Check W26 results first: if CPF &lt; Php 20 on a video, increase to Php 400/day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374136"/>
            <a:ext cx="5696712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3429000"/>
            <a:ext cx="551383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📸 Instagram Boost — NEW in Week 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3648456"/>
            <a:ext cx="569671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3648456"/>
            <a:ext cx="292608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54496" y="3739896"/>
            <a:ext cx="2377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0" y="3712464"/>
            <a:ext cx="52395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Open Instagram → go to the posted Reel/carousel → tap "Boost Post"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4050792"/>
            <a:ext cx="569671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4050792"/>
            <a:ext cx="292608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54496" y="4142232"/>
            <a:ext cx="2377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0" y="4114800"/>
            <a:ext cx="52395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Goal: "More profile visits" — drives follow intent (not just views)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17920" y="4453128"/>
            <a:ext cx="569671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17920" y="4453128"/>
            <a:ext cx="292608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54496" y="4544568"/>
            <a:ext cx="2377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4517136"/>
            <a:ext cx="52395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Audience: Automatic · Philippines auto-detected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4855464"/>
            <a:ext cx="569671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17920" y="4855464"/>
            <a:ext cx="292608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54496" y="4946904"/>
            <a:ext cx="2377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83680" y="4919472"/>
            <a:ext cx="52395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Duration: 2 days · Budget: Php 350/day · Confirm payment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257800"/>
            <a:ext cx="569671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17920" y="5257800"/>
            <a:ext cx="292608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54496" y="5349240"/>
            <a:ext cx="23774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0" y="5321808"/>
            <a:ext cx="52395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Check results in Instagram Insights → Boosted post tab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5769864"/>
            <a:ext cx="11640312" cy="2926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74320" y="5769864"/>
            <a:ext cx="50800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5833872"/>
            <a:ext cx="1136599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CD34D"/>
                </a:solidFill>
                <a:latin typeface="Arial"/>
              </a:rPr>
              <a:t>W27 TARGETS:  TikTok 10,000+ views  ·  IG 3,000+ reach  ·  Combined new followers 80–160  ·  Compare CPF: which platform wins?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rial"/>
              </a:rPr>
              <a:t>Week 3 — W28 · Jul 6–12 · All 3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Full 3-platform push · compare all results · decide where to scale in July · requires Facebook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3767328" cy="30906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3767328" cy="508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358444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0050"/>
                </a:solidFill>
                <a:latin typeface="Arial"/>
              </a:rPr>
              <a:t>🎵 TikTok Promote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185416"/>
            <a:ext cx="3547872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240280"/>
            <a:ext cx="354787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60904"/>
            <a:ext cx="3584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MON · Jul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35224"/>
            <a:ext cx="3584448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TBD — Monday AI Tip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355848"/>
            <a:ext cx="3584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F59E0B"/>
                </a:solidFill>
                <a:latin typeface="Arial"/>
              </a:rPr>
              <a:t>Php 300/day × 2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611880"/>
            <a:ext cx="3584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8–9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3904488"/>
            <a:ext cx="3547872" cy="1270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3995928"/>
            <a:ext cx="358444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Video views · Automatic audience
Start Jul 8 morning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61104" y="1783080"/>
            <a:ext cx="3767328" cy="30906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1783080"/>
            <a:ext cx="3767328" cy="508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0832" y="1874520"/>
            <a:ext cx="358444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C13B84"/>
                </a:solidFill>
                <a:latin typeface="Arial"/>
              </a:rPr>
              <a:t>📸 Instagram Boost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0832" y="2185416"/>
            <a:ext cx="3547872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2" y="2240280"/>
            <a:ext cx="354787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2" y="2660904"/>
            <a:ext cx="3584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FRI · Jul 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2935224"/>
            <a:ext cx="3584448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TBD — Friday 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3355848"/>
            <a:ext cx="3584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F59E0B"/>
                </a:solidFill>
                <a:latin typeface="Arial"/>
              </a:rPr>
              <a:t>Php 300/day × 2 days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3611880"/>
            <a:ext cx="3584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12–13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3904488"/>
            <a:ext cx="3547872" cy="1270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0832" y="3995928"/>
            <a:ext cx="358444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Profile visits · Automatic audience
Start Jul 12 morning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1783080"/>
            <a:ext cx="3767328" cy="30906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1783080"/>
            <a:ext cx="3767328" cy="508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1874520"/>
            <a:ext cx="358444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877F2"/>
                </a:solidFill>
                <a:latin typeface="Arial"/>
              </a:rPr>
              <a:t>📘 Facebook Boost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7616" y="2185416"/>
            <a:ext cx="3547872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57616" y="2240280"/>
            <a:ext cx="354787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  <a:latin typeface="Arial"/>
              </a:rPr>
              <a:t>Php 800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2660904"/>
            <a:ext cx="3584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WED · Jul 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2935224"/>
            <a:ext cx="3584448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6" y="3355848"/>
            <a:ext cx="3584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F59E0B"/>
                </a:solidFill>
                <a:latin typeface="Arial"/>
              </a:rPr>
              <a:t>Php 400/day × 2 days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57616" y="3611880"/>
            <a:ext cx="3584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10–11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7616" y="3904488"/>
            <a:ext cx="3547872" cy="1270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7616" y="3995928"/>
            <a:ext cx="358444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Reach + Page likes · PH 22–45
Tech + Freelancing interests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983480"/>
            <a:ext cx="11640312" cy="512064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" y="4983480"/>
            <a:ext cx="63500" cy="5120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074920"/>
            <a:ext cx="11365992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⚠️  BEFORE WEEK 3: Facebook Page required. Go to facebook.com/pages/create → "Business or brand" → migrate followers. Personal profiles CANNOT boost or access analytics.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568696"/>
            <a:ext cx="1164031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5641848"/>
            <a:ext cx="11365992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W28 TOTAL:  Php 2,000  ·  TikTok Php 600  +  Instagram Php 600  +  Facebook Php 800  ·  3-Week Grand Total: Php 6,000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989320"/>
            <a:ext cx="11640312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5989320"/>
            <a:ext cx="5080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062472"/>
            <a:ext cx="11365992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FCD34D"/>
                </a:solidFill>
                <a:latin typeface="Arial"/>
              </a:rPr>
              <a:t>After W28: compare CPF across platforms → winner gets biggest July budget. Scale rule: CPF &lt; Php 12 → add Php 400/week to that platform.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Budget Summary — 3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Php 6,000 total · Php 2,000/week · W26 TikTok → W27 TikTok+IG → W28 All 3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1115568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847088"/>
            <a:ext cx="10241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9888" y="1783080"/>
            <a:ext cx="2322576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1847088"/>
            <a:ext cx="22311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TikTok Spend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12464" y="1783080"/>
            <a:ext cx="2322576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1847088"/>
            <a:ext cx="22311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Instagram Spend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1993392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9904" y="1847088"/>
            <a:ext cx="190195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Facebook Spend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8432" y="1783080"/>
            <a:ext cx="1426464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3296" y="1847088"/>
            <a:ext cx="1335024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Weekly Total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54896" y="1783080"/>
            <a:ext cx="1591056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1847088"/>
            <a:ext cx="149961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Followers Target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045952" y="1783080"/>
            <a:ext cx="868680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00816" y="1847088"/>
            <a:ext cx="7772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Platforms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112264"/>
            <a:ext cx="1115568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2240280"/>
            <a:ext cx="1024128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
Jun 22–28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9888" y="2112264"/>
            <a:ext cx="232257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53896" y="2240280"/>
            <a:ext cx="2231136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Php 2,000
3 posts × TikTok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2464" y="2112264"/>
            <a:ext cx="232257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76472" y="2240280"/>
            <a:ext cx="2231136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112264"/>
            <a:ext cx="1993392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9048" y="2240280"/>
            <a:ext cx="1901952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28432" y="2112264"/>
            <a:ext cx="1426464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2240280"/>
            <a:ext cx="1335024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2,000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4896" y="2112264"/>
            <a:ext cx="159105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18904" y="2240280"/>
            <a:ext cx="1499616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0D9488"/>
                </a:solidFill>
                <a:latin typeface="Arial"/>
              </a:rPr>
              <a:t>60–120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45952" y="2112264"/>
            <a:ext cx="868680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09960" y="2240280"/>
            <a:ext cx="7772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Arial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862072"/>
            <a:ext cx="1115568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990088"/>
            <a:ext cx="1024128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
Jun 29–Jul 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89888" y="2862072"/>
            <a:ext cx="23225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53896" y="2990088"/>
            <a:ext cx="2231136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Php 1,300
2 posts × TikTok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12464" y="2862072"/>
            <a:ext cx="23225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76472" y="2990088"/>
            <a:ext cx="2231136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C13B84"/>
                </a:solidFill>
                <a:latin typeface="Arial"/>
              </a:rPr>
              <a:t>Php 700
1 post × Instagram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40" y="2862072"/>
            <a:ext cx="199339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9048" y="2990088"/>
            <a:ext cx="1901952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28432" y="2862072"/>
            <a:ext cx="1426464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92440" y="2990088"/>
            <a:ext cx="1335024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2,000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54896" y="2862072"/>
            <a:ext cx="159105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18904" y="2990088"/>
            <a:ext cx="1499616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0D9488"/>
                </a:solidFill>
                <a:latin typeface="Arial"/>
              </a:rPr>
              <a:t>80–160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045952" y="2862072"/>
            <a:ext cx="868680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109960" y="2990088"/>
            <a:ext cx="7772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Arial"/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611880"/>
            <a:ext cx="1115568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8328" y="3739896"/>
            <a:ext cx="1024128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
Jul 6–12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89888" y="3611880"/>
            <a:ext cx="232257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53896" y="3739896"/>
            <a:ext cx="2231136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Php 600
1 post × TikTok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12464" y="3611880"/>
            <a:ext cx="232257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76472" y="3739896"/>
            <a:ext cx="2231136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C13B84"/>
                </a:solidFill>
                <a:latin typeface="Arial"/>
              </a:rPr>
              <a:t>Php 600
1 post × Instagram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3611880"/>
            <a:ext cx="1993392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9048" y="3739896"/>
            <a:ext cx="1901952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877F2"/>
                </a:solidFill>
                <a:latin typeface="Arial"/>
              </a:rPr>
              <a:t>Php 800
1 post × Facebook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28432" y="3611880"/>
            <a:ext cx="1426464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92440" y="3739896"/>
            <a:ext cx="1335024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2,000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54896" y="3611880"/>
            <a:ext cx="159105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18904" y="3739896"/>
            <a:ext cx="1499616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0D9488"/>
                </a:solidFill>
                <a:latin typeface="Arial"/>
              </a:rPr>
              <a:t>100–180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045952" y="3611880"/>
            <a:ext cx="868680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09960" y="3739896"/>
            <a:ext cx="7772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Arial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361688"/>
            <a:ext cx="11640312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8328" y="4425696"/>
            <a:ext cx="10241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53896" y="4425696"/>
            <a:ext cx="22311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Php 3,900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76472" y="4425696"/>
            <a:ext cx="22311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Php 1,300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9048" y="4425696"/>
            <a:ext cx="190195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Php 800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92440" y="4425696"/>
            <a:ext cx="1335024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CD34D"/>
                </a:solidFill>
                <a:latin typeface="Arial"/>
              </a:rPr>
              <a:t>Php 6,000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18904" y="4425696"/>
            <a:ext cx="149961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240–460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09960" y="4425696"/>
            <a:ext cx="7772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4837176"/>
            <a:ext cx="11640312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4320" y="4837176"/>
            <a:ext cx="50800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4892040"/>
            <a:ext cx="36576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SCALE RULES — WEEK 4+ (July)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5111496"/>
            <a:ext cx="11640312" cy="3291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" y="5175504"/>
            <a:ext cx="5029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Single post earns 50+ followers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77840" y="5175504"/>
            <a:ext cx="62179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CD34D"/>
                </a:solidFill>
                <a:latin typeface="Arial"/>
              </a:rPr>
              <a:t>→ Extend that post 2 more days at same daily rate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5440680"/>
            <a:ext cx="11640312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5504688"/>
            <a:ext cx="5029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Cost-per-follow drops below Php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77840" y="5504688"/>
            <a:ext cx="62179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CD34D"/>
                </a:solidFill>
                <a:latin typeface="Arial"/>
              </a:rPr>
              <a:t>→ Increase that platform's weekly budget by Php 400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5769864"/>
            <a:ext cx="11640312" cy="3291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833872"/>
            <a:ext cx="5029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Platform with lowest CPF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7840" y="5833872"/>
            <a:ext cx="62179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CD34D"/>
                </a:solidFill>
                <a:latin typeface="Arial"/>
              </a:rPr>
              <a:t>→ Gets biggest July budget allocation (min Php 800/week)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6099048"/>
            <a:ext cx="11640312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7200" y="6163056"/>
            <a:ext cx="5029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Post earns &lt; 20 followers after boost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77840" y="6163056"/>
            <a:ext cx="62179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CD34D"/>
                </a:solidFill>
                <a:latin typeface="Arial"/>
              </a:rPr>
              <a:t>→ Swap to a different platform or content slot next week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KPIs &amp; Weekly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Pull every Sunday · share screenshots with Jeff · review before next week's 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3767328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37944"/>
            <a:ext cx="3584448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3767328" cy="21945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2093976"/>
            <a:ext cx="19202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093976"/>
            <a:ext cx="914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W1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093976"/>
            <a:ext cx="8229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W3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76856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350008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Reach per boosted post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350008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3,000+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350008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7,000+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660904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734056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Video views per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2734056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5,000+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734056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15,000+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44952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118104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New followers (3 posts)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118104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60–120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118104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250+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502152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Cost per follow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502152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&lt; Php 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502152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&lt; Php 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13048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886200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Watch completion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886200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&gt; 35%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886200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&gt; 50%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61104" y="1783080"/>
            <a:ext cx="3767328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52544" y="1837944"/>
            <a:ext cx="3584448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61104" y="2057400"/>
            <a:ext cx="3767328" cy="21945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34256" y="2093976"/>
            <a:ext cx="19202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Metric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2784" y="2093976"/>
            <a:ext cx="914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W1 Target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8624" y="2093976"/>
            <a:ext cx="8229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W3 Target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61104" y="2276856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34256" y="2350008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Reach per boosted 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2784" y="2350008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2,000+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8624" y="2350008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5,000+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61104" y="2660904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34256" y="2734056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Profile visits per post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72784" y="2734056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78624" y="2734056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600+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61104" y="3044952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34256" y="3118104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New followers (per post)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72784" y="3118104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20–40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78624" y="3118104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100+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61104" y="3429000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34256" y="3502152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Cost per follow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2784" y="3502152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&lt; Php 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78624" y="3502152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&lt; Php 15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61104" y="3813048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34256" y="3886200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Saves per post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72784" y="3886200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20+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78624" y="3886200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80+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47888" y="1783080"/>
            <a:ext cx="3767328" cy="27432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39328" y="1837944"/>
            <a:ext cx="3584448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47888" y="2057400"/>
            <a:ext cx="3767328" cy="21945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2093976"/>
            <a:ext cx="19202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Metric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59568" y="2093976"/>
            <a:ext cx="914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W1 Target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65408" y="2093976"/>
            <a:ext cx="8229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W3 Target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47888" y="2276856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21040" y="2350008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Reach per boosted post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59568" y="2350008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2,500+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65408" y="2350008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6,000+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47888" y="2660904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21040" y="2734056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New Page likes per post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734056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20–40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65408" y="2734056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100+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47888" y="3044952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21040" y="3118104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Cost per Page like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59568" y="3118104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&lt; Php 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265408" y="3118104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&lt; Php 15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47888" y="3429000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21040" y="3502152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Link clicks to profile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59568" y="3502152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50+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265408" y="3502152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200+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47888" y="3813048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321040" y="3886200"/>
            <a:ext cx="19202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Active weeks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59568" y="3886200"/>
            <a:ext cx="914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W28 only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65408" y="3886200"/>
            <a:ext cx="822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Full July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4325112"/>
            <a:ext cx="11640312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4325112"/>
            <a:ext cx="508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4407408"/>
            <a:ext cx="16459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WHERE TO PULL:  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20240" y="4407408"/>
            <a:ext cx="99029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TikTok: Creator Center → Analytics + Promote tab  ·  Instagram: Professional Dashboard → Boosted post results  ·  Facebook: Business Suite → Page Insights (available once Page is created)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4709160"/>
            <a:ext cx="11640312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74320" y="4709160"/>
            <a:ext cx="5080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0" y="4764024"/>
            <a:ext cx="54864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POST-BOOST ENGAGEMENT CHECKLIST (every post day)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4965192"/>
            <a:ext cx="11640312" cy="24688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200" y="5029200"/>
            <a:ext cx="1136599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☐  Reply to ALL comments within first 1 hour of posting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5212080"/>
            <a:ext cx="11640312" cy="2468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57200" y="5276088"/>
            <a:ext cx="1136599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☐  Pin first comment within 5 min (tip or claude.ai link)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4320" y="5458968"/>
            <a:ext cx="11640312" cy="24688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200" y="5522976"/>
            <a:ext cx="1136599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☐  Share Reel to Instagram Stories immediately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4320" y="5705856"/>
            <a:ext cx="11640312" cy="2468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57200" y="5769864"/>
            <a:ext cx="1136599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☐  Post to Facebook cross-post (native upload — never TikTok link)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4320" y="5952744"/>
            <a:ext cx="11640312" cy="24688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57200" y="6016752"/>
            <a:ext cx="1136599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☐  End every video with a YES/NO or choice question to drive comment rate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