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97280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Arial"/>
              </a:rPr>
              <a:t>CONTENT PLAN &amp; BOOST BUDGET  ·  W26–W28  ·  JUNE–JULY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86384"/>
            <a:ext cx="109728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200" b="1" i="0">
                <a:solidFill>
                  <a:srgbClr val="FFFFFF"/>
                </a:solidFill>
                <a:latin typeface="Arial"/>
              </a:rPr>
              <a:t>Tito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09728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400" b="1" i="0">
                <a:solidFill>
                  <a:srgbClr val="F59E0B"/>
                </a:solidFill>
                <a:latin typeface="Arial"/>
              </a:rPr>
              <a:t>@TitoAIPH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67712"/>
            <a:ext cx="109728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 i="0">
                <a:solidFill>
                  <a:srgbClr val="E5E7EB"/>
                </a:solidFill>
                <a:latin typeface="Arial"/>
              </a:rPr>
              <a:t>3 weeks  ·  9 posts  ·  Php 6,000 total  ·  Launch Jun 22,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798064"/>
            <a:ext cx="64008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944368"/>
            <a:ext cx="3694176" cy="74980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944368"/>
            <a:ext cx="3694176" cy="50800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999232"/>
            <a:ext cx="20116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 i="0">
                <a:solidFill>
                  <a:srgbClr val="FF0050"/>
                </a:solidFill>
                <a:latin typeface="Arial"/>
              </a:rPr>
              <a:t>Week 1  W26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999232"/>
            <a:ext cx="14630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Arial"/>
              </a:rPr>
              <a:t>Jun 22–28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3273552"/>
            <a:ext cx="347472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Boost: TikTok only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5696" y="2944368"/>
            <a:ext cx="3694176" cy="74980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25696" y="2944368"/>
            <a:ext cx="3694176" cy="50800"/>
          </a:xfrm>
          <a:prstGeom prst="rect">
            <a:avLst/>
          </a:prstGeom>
          <a:solidFill>
            <a:srgbClr val="C13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2999232"/>
            <a:ext cx="20116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 i="0">
                <a:solidFill>
                  <a:srgbClr val="C13B84"/>
                </a:solidFill>
                <a:latin typeface="Arial"/>
              </a:rPr>
              <a:t>Week 2  W27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8816" y="2999232"/>
            <a:ext cx="14630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Arial"/>
              </a:rPr>
              <a:t>Jun 29–Jul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3273552"/>
            <a:ext cx="347472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Boost: TikTok + IG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02752" y="2944368"/>
            <a:ext cx="3694176" cy="74980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02752" y="2944368"/>
            <a:ext cx="3694176" cy="50800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0768" y="2999232"/>
            <a:ext cx="20116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 i="0">
                <a:solidFill>
                  <a:srgbClr val="1877F2"/>
                </a:solidFill>
                <a:latin typeface="Arial"/>
              </a:rPr>
              <a:t>Week 3  W28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5872" y="2999232"/>
            <a:ext cx="14630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Arial"/>
              </a:rPr>
              <a:t>Jul 6–12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0768" y="3273552"/>
            <a:ext cx="347472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Boost: All 3 platforms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285232"/>
            <a:ext cx="3657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9CA3AF"/>
                </a:solidFill>
                <a:latin typeface="Arial"/>
              </a:rPr>
              <a:t>TOTAL BUDGET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541264"/>
            <a:ext cx="3657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Php 6,000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25696" y="5285232"/>
            <a:ext cx="3657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9CA3AF"/>
                </a:solidFill>
                <a:latin typeface="Arial"/>
              </a:rPr>
              <a:t>LAUNCH 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25696" y="5541264"/>
            <a:ext cx="3657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Jun 22,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5285232"/>
            <a:ext cx="3657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50" b="1" i="0">
                <a:solidFill>
                  <a:srgbClr val="9CA3AF"/>
                </a:solidFill>
                <a:latin typeface="Arial"/>
              </a:rPr>
              <a:t>PURPOSE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5541264"/>
            <a:ext cx="36576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Followers + Views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501384"/>
            <a:ext cx="86868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Arial"/>
              </a:rPr>
              <a:t>Tito AI @TitoAIPH  ·  Content Boost Plan  ·  W26–W28  ·  June–July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640312" y="6501384"/>
            <a:ext cx="3657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 i="0">
                <a:solidFill>
                  <a:srgbClr val="F59E0B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73152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7744" y="950976"/>
            <a:ext cx="1170432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Target Market — Mga Pamangkin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1536192"/>
            <a:ext cx="1170432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Everyday Filipinos · Age 22–45 · Philippines · Taglish-speaking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" y="1645920"/>
            <a:ext cx="11704320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783080"/>
            <a:ext cx="11548872" cy="384048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783080"/>
            <a:ext cx="6350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" y="1856232"/>
            <a:ext cx="112928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1">
                <a:solidFill>
                  <a:srgbClr val="FCD34D"/>
                </a:solidFill>
                <a:latin typeface="Arial"/>
              </a:rPr>
              <a:t>"The warm, relatable Tito who teaches everyday Filipinos to use AI — for free — before it replaces their job."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217420"/>
            <a:ext cx="11548872" cy="74980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2217420"/>
            <a:ext cx="63500" cy="7498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" y="2290572"/>
            <a:ext cx="23774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Arial"/>
              </a:rPr>
              <a:t>FREELANCERS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308860"/>
            <a:ext cx="274320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Arial"/>
              </a:rPr>
              <a:t>1.5M+ in PH (PIDS)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" y="2564892"/>
            <a:ext cx="1129284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E5E7EB"/>
                </a:solidFill>
                <a:latin typeface="Arial"/>
              </a:rPr>
              <a:t>Fear: clients will replace them with AI. Need: faster proposals, better outputs, competitive edge.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017520"/>
            <a:ext cx="11548872" cy="74980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3017520"/>
            <a:ext cx="63500" cy="7498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" y="3090672"/>
            <a:ext cx="23774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Arial"/>
              </a:rPr>
              <a:t>GURO / TEACHERS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3108960"/>
            <a:ext cx="274320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Arial"/>
              </a:rPr>
              <a:t>900K+ DepEd public school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" y="3364992"/>
            <a:ext cx="1129284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E5E7EB"/>
                </a:solidFill>
                <a:latin typeface="Arial"/>
              </a:rPr>
              <a:t>Fear: curriculum disruption. Need: lesson plans in 2 min, grading, parent communication. One guro → 40 families.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817620"/>
            <a:ext cx="11548872" cy="74980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817620"/>
            <a:ext cx="63500" cy="749808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" y="3890772"/>
            <a:ext cx="23774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 i="0">
                <a:solidFill>
                  <a:srgbClr val="FF0050"/>
                </a:solidFill>
                <a:latin typeface="Arial"/>
              </a:rPr>
              <a:t>BPO WORKERS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3909060"/>
            <a:ext cx="274320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Arial"/>
              </a:rPr>
              <a:t>1.9M employees (BSP 2025)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" y="4165092"/>
            <a:ext cx="1129284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E5E7EB"/>
                </a:solidFill>
                <a:latin typeface="Arial"/>
              </a:rPr>
              <a:t>Fear: automation layoffs. Need to upskill NOW — fastest-adopting segment for AI education content.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617720"/>
            <a:ext cx="11548872" cy="74980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4617720"/>
            <a:ext cx="63500" cy="749808"/>
          </a:xfrm>
          <a:prstGeom prst="rect">
            <a:avLst/>
          </a:prstGeom>
          <a:solidFill>
            <a:srgbClr val="C13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" y="4690872"/>
            <a:ext cx="23774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 i="0">
                <a:solidFill>
                  <a:srgbClr val="C13B84"/>
                </a:solidFill>
                <a:latin typeface="Arial"/>
              </a:rPr>
              <a:t>NANAYS / TATAYS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4709160"/>
            <a:ext cx="274320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Arial"/>
              </a:rPr>
              <a:t>Millions of Filipino parents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" y="4965192"/>
            <a:ext cx="1129284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E5E7EB"/>
                </a:solidFill>
                <a:latin typeface="Arial"/>
              </a:rPr>
              <a:t>Fear: being left behind. Need: family budgeting, homework help, meal planning, household productivity.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5417820"/>
            <a:ext cx="11548872" cy="74980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5417820"/>
            <a:ext cx="63500" cy="749808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" y="5490972"/>
            <a:ext cx="23774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 i="0">
                <a:solidFill>
                  <a:srgbClr val="1877F2"/>
                </a:solidFill>
                <a:latin typeface="Arial"/>
              </a:rPr>
              <a:t>SME OWNERS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0360" y="5509260"/>
            <a:ext cx="274320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Arial"/>
              </a:rPr>
              <a:t>Only 14.9% use AI tools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" y="5765292"/>
            <a:ext cx="1129284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E5E7EB"/>
                </a:solidFill>
                <a:latin typeface="Arial"/>
              </a:rPr>
              <a:t>Fear: losing to AI-enabled competition. Need: marketing, customer service, operations automation.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6501384"/>
            <a:ext cx="86868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Arial"/>
              </a:rPr>
              <a:t>Tito AI @TitoAIPH  ·  Content Boost Plan  ·  W26–W28  ·  June–July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640312" y="6501384"/>
            <a:ext cx="3657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 i="0">
                <a:solidFill>
                  <a:srgbClr val="F59E0B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73152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7744" y="950976"/>
            <a:ext cx="1170432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3-Week Boost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1536192"/>
            <a:ext cx="1170432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Post all platforms every week  ·  boost budget ramps progressively  ·  Php 2,000/week  ·  launch Jun 22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" y="1645920"/>
            <a:ext cx="11704320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783080"/>
            <a:ext cx="3721608" cy="404164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783080"/>
            <a:ext cx="3721608" cy="63500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" y="1874520"/>
            <a:ext cx="34655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F0050"/>
                </a:solidFill>
                <a:latin typeface="Arial"/>
              </a:rPr>
              <a:t>WEEK 1 — W26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" y="2130552"/>
            <a:ext cx="346557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Arial"/>
              </a:rPr>
              <a:t>Jun 22–28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" y="2386584"/>
            <a:ext cx="3465576" cy="310896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" y="2423160"/>
            <a:ext cx="34655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Boost: TikTok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" y="2770632"/>
            <a:ext cx="3465576" cy="402336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843784"/>
            <a:ext cx="3374136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E5E7EB"/>
                </a:solidFill>
                <a:latin typeface="Arial"/>
              </a:rPr>
              <a:t>MON Jun 22  · Ang Sabi Nila: Pang-Matalino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" y="3227832"/>
            <a:ext cx="3465576" cy="402336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300984"/>
            <a:ext cx="3374136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E5E7EB"/>
                </a:solidFill>
                <a:latin typeface="Arial"/>
              </a:rPr>
              <a:t>WED Jun 25  · Gemini para sa Guro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" y="3685032"/>
            <a:ext cx="3465576" cy="402336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758184"/>
            <a:ext cx="3374136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E5E7EB"/>
                </a:solidFill>
                <a:latin typeface="Arial"/>
              </a:rPr>
              <a:t>FRI Jun 27  · 1 Buwan Kasama Tito AI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" y="4197096"/>
            <a:ext cx="3465576" cy="12700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" y="4270248"/>
            <a:ext cx="3465576" cy="11521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1">
                <a:solidFill>
                  <a:srgbClr val="9CA3AF"/>
                </a:solidFill>
                <a:latin typeface="Arial"/>
              </a:rPr>
              <a:t>Post organically to all platforms. Boost TikTok only — learn Promote mechanics and establish baseline CPV + CPF.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" y="5440680"/>
            <a:ext cx="3465576" cy="329184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" y="5458968"/>
            <a:ext cx="346557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Php 2,000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1783080"/>
            <a:ext cx="3721608" cy="404164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06240" y="1783080"/>
            <a:ext cx="3721608" cy="63500"/>
          </a:xfrm>
          <a:prstGeom prst="rect">
            <a:avLst/>
          </a:prstGeom>
          <a:solidFill>
            <a:srgbClr val="C13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34256" y="1874520"/>
            <a:ext cx="34655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C13B84"/>
                </a:solidFill>
                <a:latin typeface="Arial"/>
              </a:rPr>
              <a:t>WEEK 2 — W27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34256" y="2130552"/>
            <a:ext cx="346557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Arial"/>
              </a:rPr>
              <a:t>Jun 29–Jul 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34256" y="2386584"/>
            <a:ext cx="3465576" cy="310896"/>
          </a:xfrm>
          <a:prstGeom prst="rect">
            <a:avLst/>
          </a:prstGeom>
          <a:solidFill>
            <a:srgbClr val="C13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34256" y="2423160"/>
            <a:ext cx="34655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Boost: TikTok + IG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34256" y="2770632"/>
            <a:ext cx="3465576" cy="402336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0" y="2843784"/>
            <a:ext cx="3374136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E5E7EB"/>
                </a:solidFill>
                <a:latin typeface="Arial"/>
              </a:rPr>
              <a:t>MON Jun 30  · July Teaser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34256" y="3227832"/>
            <a:ext cx="3465576" cy="402336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0" y="3300984"/>
            <a:ext cx="3374136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E5E7EB"/>
                </a:solidFill>
                <a:latin typeface="Arial"/>
              </a:rPr>
              <a:t>WED Jul 2   · TBD — Wednesday Demo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34256" y="3685032"/>
            <a:ext cx="3465576" cy="402336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0" y="3758184"/>
            <a:ext cx="3374136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E5E7EB"/>
                </a:solidFill>
                <a:latin typeface="Arial"/>
              </a:rPr>
              <a:t>FRI Jul 4   · TBD — Friday Story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34256" y="4197096"/>
            <a:ext cx="3465576" cy="12700"/>
          </a:xfrm>
          <a:prstGeom prst="rect">
            <a:avLst/>
          </a:prstGeom>
          <a:solidFill>
            <a:srgbClr val="C13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34256" y="4270248"/>
            <a:ext cx="3465576" cy="11521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1">
                <a:solidFill>
                  <a:srgbClr val="9CA3AF"/>
                </a:solidFill>
                <a:latin typeface="Arial"/>
              </a:rPr>
              <a:t>Post organically to all platforms. Add Instagram Boost using W26 data to decide budget split.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34256" y="5440680"/>
            <a:ext cx="3465576" cy="329184"/>
          </a:xfrm>
          <a:prstGeom prst="rect">
            <a:avLst/>
          </a:prstGeom>
          <a:solidFill>
            <a:srgbClr val="C13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34256" y="5458968"/>
            <a:ext cx="346557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Php 2,000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92440" y="1783080"/>
            <a:ext cx="3721608" cy="404164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92440" y="1783080"/>
            <a:ext cx="3721608" cy="63500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0456" y="1874520"/>
            <a:ext cx="34655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877F2"/>
                </a:solidFill>
                <a:latin typeface="Arial"/>
              </a:rPr>
              <a:t>WEEK 3 — W28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0456" y="2130552"/>
            <a:ext cx="346557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Arial"/>
              </a:rPr>
              <a:t>Jul 6–12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0456" y="2386584"/>
            <a:ext cx="3465576" cy="310896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0456" y="2423160"/>
            <a:ext cx="34655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Boost: All 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0456" y="2770632"/>
            <a:ext cx="3465576" cy="402336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75320" y="2843784"/>
            <a:ext cx="3374136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E5E7EB"/>
                </a:solidFill>
                <a:latin typeface="Arial"/>
              </a:rPr>
              <a:t>MON Jul 7   · TBD — Monday AI Tip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0456" y="3227832"/>
            <a:ext cx="3465576" cy="402336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75320" y="3300984"/>
            <a:ext cx="3374136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E5E7EB"/>
                </a:solidFill>
                <a:latin typeface="Arial"/>
              </a:rPr>
              <a:t>WED Jul 9   · TBD — Wednesday Demo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0456" y="3685032"/>
            <a:ext cx="3465576" cy="402336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75320" y="3758184"/>
            <a:ext cx="3374136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E5E7EB"/>
                </a:solidFill>
                <a:latin typeface="Arial"/>
              </a:rPr>
              <a:t>FRI Jul 11  · TBD — Friday Story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20456" y="4197096"/>
            <a:ext cx="3465576" cy="12700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0456" y="4270248"/>
            <a:ext cx="3465576" cy="11521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1">
                <a:solidFill>
                  <a:srgbClr val="9CA3AF"/>
                </a:solidFill>
                <a:latin typeface="Arial"/>
              </a:rPr>
              <a:t>Post organically to all platforms. Full boost across TikTok, IG, and Facebook. ⚠️ FB Page required.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20456" y="5440680"/>
            <a:ext cx="3465576" cy="329184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0456" y="5458968"/>
            <a:ext cx="346557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Php 2,000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60" y="6501384"/>
            <a:ext cx="86868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Arial"/>
              </a:rPr>
              <a:t>Tito AI @TitoAIPH  ·  Content Boost Plan  ·  W26–W28  ·  June–July 2026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640312" y="6501384"/>
            <a:ext cx="3657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 i="0">
                <a:solidFill>
                  <a:srgbClr val="F59E0B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73152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7744" y="950976"/>
            <a:ext cx="1170432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9-Post Content Calendar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1536192"/>
            <a:ext cx="1170432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Mon / Wed / Fri  ·  drop 7–8 PM PHT  ·  boost starts morning after posting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" y="1645920"/>
            <a:ext cx="11704320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783080"/>
            <a:ext cx="2103120" cy="32918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" y="1856232"/>
            <a:ext cx="1847088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Week · Date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2423160" y="1783080"/>
            <a:ext cx="6126480" cy="32918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51176" y="1856232"/>
            <a:ext cx="5870448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Topic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83080"/>
            <a:ext cx="1956816" cy="32918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77656" y="1856232"/>
            <a:ext cx="170078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Platform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06456" y="1783080"/>
            <a:ext cx="1362456" cy="329184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34472" y="1856232"/>
            <a:ext cx="1106424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Budget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112264"/>
            <a:ext cx="2103120" cy="43891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112264"/>
            <a:ext cx="6126480" cy="43891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49640" y="2112264"/>
            <a:ext cx="1956816" cy="43891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06456" y="2112264"/>
            <a:ext cx="1362456" cy="43891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112264"/>
            <a:ext cx="50800" cy="438912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" y="2167128"/>
            <a:ext cx="1847088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 i="0">
                <a:solidFill>
                  <a:srgbClr val="FF0050"/>
                </a:solidFill>
                <a:latin typeface="Arial"/>
              </a:rPr>
              <a:t>W26 · Jun 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51176" y="2167128"/>
            <a:ext cx="5870448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MON  ·  Ang Sabi Nila: Pang-Matalino Lang Iyan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59368" y="2194560"/>
            <a:ext cx="1737360" cy="274320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59368" y="2221992"/>
            <a:ext cx="173736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TikTok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70464" y="2185416"/>
            <a:ext cx="123444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  <a:latin typeface="Arial"/>
              </a:rPr>
              <a:t>Php 700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551176"/>
            <a:ext cx="2103120" cy="43891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423160" y="2551176"/>
            <a:ext cx="6126480" cy="43891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549640" y="2551176"/>
            <a:ext cx="1956816" cy="43891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506456" y="2551176"/>
            <a:ext cx="1362456" cy="43891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2551176"/>
            <a:ext cx="50800" cy="438912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" y="2606040"/>
            <a:ext cx="1847088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 i="0">
                <a:solidFill>
                  <a:srgbClr val="FF0050"/>
                </a:solidFill>
                <a:latin typeface="Arial"/>
              </a:rPr>
              <a:t>W26 · Jun 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51176" y="2606040"/>
            <a:ext cx="5870448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WED  ·  Gemini para sa Guro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59368" y="2633472"/>
            <a:ext cx="1737360" cy="274320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59368" y="2660904"/>
            <a:ext cx="173736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TikTok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70464" y="2624328"/>
            <a:ext cx="123444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  <a:latin typeface="Arial"/>
              </a:rPr>
              <a:t>Php 700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2990088"/>
            <a:ext cx="2103120" cy="43891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423160" y="2990088"/>
            <a:ext cx="6126480" cy="43891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549640" y="2990088"/>
            <a:ext cx="1956816" cy="43891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506456" y="2990088"/>
            <a:ext cx="1362456" cy="43891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0040" y="2990088"/>
            <a:ext cx="50800" cy="438912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8056" y="3044952"/>
            <a:ext cx="1847088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 i="0">
                <a:solidFill>
                  <a:srgbClr val="FF0050"/>
                </a:solidFill>
                <a:latin typeface="Arial"/>
              </a:rPr>
              <a:t>W26 · Jun 27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51176" y="3044952"/>
            <a:ext cx="5870448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FRI  ·  1 Buwan Kasama Tito AI — Ang Resulta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59368" y="3072384"/>
            <a:ext cx="1737360" cy="274320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59368" y="3099816"/>
            <a:ext cx="173736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TikTok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70464" y="3063240"/>
            <a:ext cx="123444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  <a:latin typeface="Arial"/>
              </a:rPr>
              <a:t>Php 600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3429000"/>
            <a:ext cx="2103120" cy="43891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423160" y="3429000"/>
            <a:ext cx="6126480" cy="43891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549640" y="3429000"/>
            <a:ext cx="1956816" cy="43891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506456" y="3429000"/>
            <a:ext cx="1362456" cy="43891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20040" y="3429000"/>
            <a:ext cx="50800" cy="438912"/>
          </a:xfrm>
          <a:prstGeom prst="rect">
            <a:avLst/>
          </a:prstGeom>
          <a:solidFill>
            <a:srgbClr val="C13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8056" y="3483864"/>
            <a:ext cx="1847088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 i="0">
                <a:solidFill>
                  <a:srgbClr val="C13B84"/>
                </a:solidFill>
                <a:latin typeface="Arial"/>
              </a:rPr>
              <a:t>W27 · Jun 30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51176" y="3483864"/>
            <a:ext cx="5870448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MON  ·  July Teaser — Ano ang Susunod?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59368" y="3511296"/>
            <a:ext cx="1737360" cy="274320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59368" y="3538728"/>
            <a:ext cx="173736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TikTok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70464" y="3502152"/>
            <a:ext cx="123444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  <a:latin typeface="Arial"/>
              </a:rPr>
              <a:t>Php 700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3867912"/>
            <a:ext cx="2103120" cy="43891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423160" y="3867912"/>
            <a:ext cx="6126480" cy="43891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549640" y="3867912"/>
            <a:ext cx="1956816" cy="43891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506456" y="3867912"/>
            <a:ext cx="1362456" cy="43891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20040" y="3867912"/>
            <a:ext cx="50800" cy="438912"/>
          </a:xfrm>
          <a:prstGeom prst="rect">
            <a:avLst/>
          </a:prstGeom>
          <a:solidFill>
            <a:srgbClr val="C13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48056" y="3922776"/>
            <a:ext cx="1847088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 i="0">
                <a:solidFill>
                  <a:srgbClr val="C13B84"/>
                </a:solidFill>
                <a:latin typeface="Arial"/>
              </a:rPr>
              <a:t>W27 · Jul 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51176" y="3922776"/>
            <a:ext cx="5870448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WED  ·  TBD — Wednesday Demo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659368" y="3950208"/>
            <a:ext cx="1737360" cy="274320"/>
          </a:xfrm>
          <a:prstGeom prst="rect">
            <a:avLst/>
          </a:prstGeom>
          <a:solidFill>
            <a:srgbClr val="C13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659368" y="3977640"/>
            <a:ext cx="173736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Instagram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70464" y="3941064"/>
            <a:ext cx="123444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  <a:latin typeface="Arial"/>
              </a:rPr>
              <a:t>Php 700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" y="4306824"/>
            <a:ext cx="2103120" cy="43891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423160" y="4306824"/>
            <a:ext cx="6126480" cy="43891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549640" y="4306824"/>
            <a:ext cx="1956816" cy="43891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506456" y="4306824"/>
            <a:ext cx="1362456" cy="43891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20040" y="4306824"/>
            <a:ext cx="50800" cy="438912"/>
          </a:xfrm>
          <a:prstGeom prst="rect">
            <a:avLst/>
          </a:prstGeom>
          <a:solidFill>
            <a:srgbClr val="C13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48056" y="4361688"/>
            <a:ext cx="1847088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 i="0">
                <a:solidFill>
                  <a:srgbClr val="C13B84"/>
                </a:solidFill>
                <a:latin typeface="Arial"/>
              </a:rPr>
              <a:t>W27 · Jul 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551176" y="4361688"/>
            <a:ext cx="5870448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FRI  ·  TBD — Friday Story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659368" y="4389120"/>
            <a:ext cx="1737360" cy="274320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659368" y="4416552"/>
            <a:ext cx="173736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TikTok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70464" y="4379976"/>
            <a:ext cx="123444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  <a:latin typeface="Arial"/>
              </a:rPr>
              <a:t>Php 600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20040" y="4745736"/>
            <a:ext cx="2103120" cy="43891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423160" y="4745736"/>
            <a:ext cx="6126480" cy="43891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549640" y="4745736"/>
            <a:ext cx="1956816" cy="43891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0506456" y="4745736"/>
            <a:ext cx="1362456" cy="43891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20040" y="4745736"/>
            <a:ext cx="50800" cy="438912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48056" y="4800600"/>
            <a:ext cx="1847088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 i="0">
                <a:solidFill>
                  <a:srgbClr val="1877F2"/>
                </a:solidFill>
                <a:latin typeface="Arial"/>
              </a:rPr>
              <a:t>W28 · Jul 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551176" y="4800600"/>
            <a:ext cx="5870448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MON  ·  TBD — Monday AI Tip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659368" y="4828032"/>
            <a:ext cx="1737360" cy="274320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659368" y="4855464"/>
            <a:ext cx="173736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TikTok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570464" y="4818888"/>
            <a:ext cx="123444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  <a:latin typeface="Arial"/>
              </a:rPr>
              <a:t>Php 600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20040" y="5184648"/>
            <a:ext cx="2103120" cy="43891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423160" y="5184648"/>
            <a:ext cx="6126480" cy="43891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549640" y="5184648"/>
            <a:ext cx="1956816" cy="43891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506456" y="5184648"/>
            <a:ext cx="1362456" cy="43891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20040" y="5184648"/>
            <a:ext cx="50800" cy="438912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48056" y="5239512"/>
            <a:ext cx="1847088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 i="0">
                <a:solidFill>
                  <a:srgbClr val="1877F2"/>
                </a:solidFill>
                <a:latin typeface="Arial"/>
              </a:rPr>
              <a:t>W28 · Jul 9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551176" y="5239512"/>
            <a:ext cx="5870448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WED  ·  TBD — Wednesday Demo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659368" y="5266944"/>
            <a:ext cx="1737360" cy="274320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659368" y="5294376"/>
            <a:ext cx="173736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Facebook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570464" y="5257800"/>
            <a:ext cx="123444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  <a:latin typeface="Arial"/>
              </a:rPr>
              <a:t>Php 800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20040" y="5623560"/>
            <a:ext cx="2103120" cy="43891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423160" y="5623560"/>
            <a:ext cx="6126480" cy="43891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549640" y="5623560"/>
            <a:ext cx="1956816" cy="43891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506456" y="5623560"/>
            <a:ext cx="1362456" cy="43891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320040" y="5623560"/>
            <a:ext cx="50800" cy="438912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48056" y="5678424"/>
            <a:ext cx="1847088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 i="0">
                <a:solidFill>
                  <a:srgbClr val="1877F2"/>
                </a:solidFill>
                <a:latin typeface="Arial"/>
              </a:rPr>
              <a:t>W28 · Jul 11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551176" y="5678424"/>
            <a:ext cx="5870448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FRI  ·  TBD — Friday Story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659368" y="5705856"/>
            <a:ext cx="1737360" cy="274320"/>
          </a:xfrm>
          <a:prstGeom prst="rect">
            <a:avLst/>
          </a:prstGeom>
          <a:solidFill>
            <a:srgbClr val="C13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659368" y="5733288"/>
            <a:ext cx="173736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Instagram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570464" y="5696712"/>
            <a:ext cx="123444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  <a:latin typeface="Arial"/>
              </a:rPr>
              <a:t>Php 600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20040" y="6062472"/>
            <a:ext cx="2103120" cy="310896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2423160" y="6062472"/>
            <a:ext cx="6126480" cy="310896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8549640" y="6062472"/>
            <a:ext cx="1956816" cy="310896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0506456" y="6062472"/>
            <a:ext cx="1362456" cy="310896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48056" y="6126480"/>
            <a:ext cx="7973568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9 posts  ·  3 weeks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570464" y="6117336"/>
            <a:ext cx="123444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 i="0">
                <a:solidFill>
                  <a:srgbClr val="FCD34D"/>
                </a:solidFill>
                <a:latin typeface="Arial"/>
              </a:rPr>
              <a:t>Php 6,000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365760" y="6501384"/>
            <a:ext cx="86868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Arial"/>
              </a:rPr>
              <a:t>Tito AI @TitoAIPH  ·  Content Boost Plan  ·  W26–W28  ·  June–July 2026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1640312" y="6501384"/>
            <a:ext cx="3657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 i="0">
                <a:solidFill>
                  <a:srgbClr val="F59E0B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73152" cy="475488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7744" y="950976"/>
            <a:ext cx="1170432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Week 1 — W26  ·  Jun 22–28  ·  Boost: TikTok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1536192"/>
            <a:ext cx="1170432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Post all platforms · boost TikTok only · learn Promote mechanics · establish baseline CPV + CPF · Php 2,000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" y="1645920"/>
            <a:ext cx="11704320" cy="25400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783080"/>
            <a:ext cx="11548872" cy="310896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" y="1847088"/>
            <a:ext cx="1664208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Drop 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68296" y="1847088"/>
            <a:ext cx="5687568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Post / Topic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11896" y="1847088"/>
            <a:ext cx="1847088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15016" y="1847088"/>
            <a:ext cx="13258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Budget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93976"/>
            <a:ext cx="1920240" cy="71323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40280" y="2093976"/>
            <a:ext cx="5943600" cy="71323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80" y="2093976"/>
            <a:ext cx="2103120" cy="71323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87000" y="2093976"/>
            <a:ext cx="1581912" cy="71323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093976"/>
            <a:ext cx="50800" cy="713232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" y="2167128"/>
            <a:ext cx="166420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F0050"/>
                </a:solidFill>
                <a:latin typeface="Arial"/>
              </a:rPr>
              <a:t>MON · Jun 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" y="2478024"/>
            <a:ext cx="1664208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  <a:latin typeface="Arial"/>
              </a:rPr>
              <a:t>Boost: Jun 23–24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68296" y="2240280"/>
            <a:ext cx="5687568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Ang Sabi Nila: Pang-Matalino Lang Iyan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11896" y="2240280"/>
            <a:ext cx="1847088" cy="402336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11896" y="2258568"/>
            <a:ext cx="1847088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TikTok Promote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6" y="2679192"/>
            <a:ext cx="1847088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  <a:latin typeface="Arial"/>
              </a:rPr>
              <a:t>Php 350/day ×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51008" y="2258568"/>
            <a:ext cx="1453896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  <a:latin typeface="Arial"/>
              </a:rPr>
              <a:t>Php 700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807208"/>
            <a:ext cx="1920240" cy="71323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40280" y="2807208"/>
            <a:ext cx="5943600" cy="71323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83880" y="2807208"/>
            <a:ext cx="2103120" cy="71323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287000" y="2807208"/>
            <a:ext cx="1581912" cy="71323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2807208"/>
            <a:ext cx="50800" cy="713232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" y="2880360"/>
            <a:ext cx="166420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F0050"/>
                </a:solidFill>
                <a:latin typeface="Arial"/>
              </a:rPr>
              <a:t>WED · Jun 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" y="3191256"/>
            <a:ext cx="1664208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  <a:latin typeface="Arial"/>
              </a:rPr>
              <a:t>Boost: Jun 26–27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68296" y="2953512"/>
            <a:ext cx="5687568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Gemini para sa Guro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11896" y="2953512"/>
            <a:ext cx="1847088" cy="402336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11896" y="2971800"/>
            <a:ext cx="1847088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TikTok Promote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1896" y="3392424"/>
            <a:ext cx="1847088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  <a:latin typeface="Arial"/>
              </a:rPr>
              <a:t>Php 350/day × 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51008" y="2971800"/>
            <a:ext cx="1453896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  <a:latin typeface="Arial"/>
              </a:rPr>
              <a:t>Php 700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520440"/>
            <a:ext cx="1920240" cy="71323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240280" y="3520440"/>
            <a:ext cx="5943600" cy="71323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83880" y="3520440"/>
            <a:ext cx="2103120" cy="71323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287000" y="3520440"/>
            <a:ext cx="1581912" cy="71323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0040" y="3520440"/>
            <a:ext cx="50800" cy="713232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8056" y="3593592"/>
            <a:ext cx="166420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F0050"/>
                </a:solidFill>
                <a:latin typeface="Arial"/>
              </a:rPr>
              <a:t>FRI · Jun 27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056" y="3904488"/>
            <a:ext cx="1664208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  <a:latin typeface="Arial"/>
              </a:rPr>
              <a:t>Boost: Jun 28–29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68296" y="3666744"/>
            <a:ext cx="5687568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1 Buwan Kasama Tito AI — Ang Resulta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11896" y="3666744"/>
            <a:ext cx="1847088" cy="402336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11896" y="3685032"/>
            <a:ext cx="1847088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TikTok Promote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11896" y="4105656"/>
            <a:ext cx="1847088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50" b="0" i="0">
                <a:solidFill>
                  <a:srgbClr val="9CA3AF"/>
                </a:solidFill>
                <a:latin typeface="Arial"/>
              </a:rPr>
              <a:t>Php 300/day × 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51008" y="3685032"/>
            <a:ext cx="1453896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  <a:latin typeface="Arial"/>
              </a:rPr>
              <a:t>Php 600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4233672"/>
            <a:ext cx="1920240" cy="310896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240280" y="4233672"/>
            <a:ext cx="5943600" cy="310896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83880" y="4233672"/>
            <a:ext cx="2103120" cy="310896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287000" y="4233672"/>
            <a:ext cx="1581912" cy="310896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8056" y="4297680"/>
            <a:ext cx="54864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W26 WEEK TOTAL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51008" y="4288536"/>
            <a:ext cx="1453896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 i="0">
                <a:solidFill>
                  <a:srgbClr val="FCD34D"/>
                </a:solidFill>
                <a:latin typeface="Arial"/>
              </a:rPr>
              <a:t>Php 2,000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4672584"/>
            <a:ext cx="11548872" cy="274320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20040" y="4672584"/>
            <a:ext cx="6350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8056" y="4736592"/>
            <a:ext cx="112928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 i="0">
                <a:solidFill>
                  <a:srgbClr val="0D9488"/>
                </a:solidFill>
                <a:latin typeface="Arial"/>
              </a:rPr>
              <a:t>HOW TO BOOST ON TIKTOK PROMOTE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0040" y="4946904"/>
            <a:ext cx="11548872" cy="310896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20040" y="4946904"/>
            <a:ext cx="347472" cy="310896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5760" y="5010912"/>
            <a:ext cx="274320" cy="2468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0664" y="5010912"/>
            <a:ext cx="11055096" cy="2468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Arial"/>
              </a:rPr>
              <a:t>Open TikTok app → tap the posted video → tap Share (arrow) → tap "Promote"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" y="5257800"/>
            <a:ext cx="11548872" cy="310896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20040" y="5257800"/>
            <a:ext cx="347472" cy="310896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5760" y="5321808"/>
            <a:ext cx="274320" cy="2468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0664" y="5321808"/>
            <a:ext cx="11055096" cy="2468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Arial"/>
              </a:rPr>
              <a:t>Goal: select "More video views" — views drive the algorithm and bring organic followers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" y="5568696"/>
            <a:ext cx="11548872" cy="310896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20040" y="5568696"/>
            <a:ext cx="347472" cy="310896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65760" y="5632704"/>
            <a:ext cx="274320" cy="2468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0664" y="5632704"/>
            <a:ext cx="11055096" cy="2468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Arial"/>
              </a:rPr>
              <a:t>Audience: Automatic · Duration: 2 days · Budget: Php 300–350/day · confirm payment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0040" y="5879592"/>
            <a:ext cx="11548872" cy="310896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20040" y="5879592"/>
            <a:ext cx="347472" cy="310896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65760" y="5943600"/>
            <a:ext cx="274320" cy="2468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0664" y="5943600"/>
            <a:ext cx="11055096" cy="2468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Arial"/>
              </a:rPr>
              <a:t>Start: morning AFTER posting — let it run organically for 8–12 hours first for best results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65760" y="6501384"/>
            <a:ext cx="86868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Arial"/>
              </a:rPr>
              <a:t>Tito AI @TitoAIPH  ·  Content Boost Plan  ·  W26–W28  ·  June–July 2026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640312" y="6501384"/>
            <a:ext cx="3657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 i="0">
                <a:solidFill>
                  <a:srgbClr val="F59E0B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73152" cy="475488"/>
          </a:xfrm>
          <a:prstGeom prst="rect">
            <a:avLst/>
          </a:prstGeom>
          <a:solidFill>
            <a:srgbClr val="C13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7744" y="950976"/>
            <a:ext cx="1170432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Week 2 — W27  ·  Jun 29–Jul 5  ·  Boost: TikTok + 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1536192"/>
            <a:ext cx="1170432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Post all platforms · add Instagram Boost · compare cost-per-follow using W26 data · Php 2,000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" y="1645920"/>
            <a:ext cx="11704320" cy="25400"/>
          </a:xfrm>
          <a:prstGeom prst="rect">
            <a:avLst/>
          </a:prstGeom>
          <a:solidFill>
            <a:srgbClr val="C13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783080"/>
            <a:ext cx="11548872" cy="310896"/>
          </a:xfrm>
          <a:prstGeom prst="rect">
            <a:avLst/>
          </a:prstGeom>
          <a:solidFill>
            <a:srgbClr val="C13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" y="1847088"/>
            <a:ext cx="1664208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Drop 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68296" y="1847088"/>
            <a:ext cx="5687568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Post / Topic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11896" y="1847088"/>
            <a:ext cx="1847088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15016" y="1847088"/>
            <a:ext cx="132588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Budget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93976"/>
            <a:ext cx="1920240" cy="71323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40280" y="2093976"/>
            <a:ext cx="5943600" cy="71323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80" y="2093976"/>
            <a:ext cx="2103120" cy="71323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87000" y="2093976"/>
            <a:ext cx="1581912" cy="71323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093976"/>
            <a:ext cx="50800" cy="713232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" y="2167128"/>
            <a:ext cx="166420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F0050"/>
                </a:solidFill>
                <a:latin typeface="Arial"/>
              </a:rPr>
              <a:t>MON · Jun 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" y="2478024"/>
            <a:ext cx="1664208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  <a:latin typeface="Arial"/>
              </a:rPr>
              <a:t>Boost: Jul 1–2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68296" y="2240280"/>
            <a:ext cx="5687568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July Teaser — Ano ang Susunod?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11896" y="2240280"/>
            <a:ext cx="1847088" cy="402336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11896" y="2258568"/>
            <a:ext cx="1847088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TikTok Promote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51008" y="2258568"/>
            <a:ext cx="1453896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  <a:latin typeface="Arial"/>
              </a:rPr>
              <a:t>Php 700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807208"/>
            <a:ext cx="1920240" cy="71323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40280" y="2807208"/>
            <a:ext cx="5943600" cy="71323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83880" y="2807208"/>
            <a:ext cx="2103120" cy="71323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287000" y="2807208"/>
            <a:ext cx="1581912" cy="71323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2807208"/>
            <a:ext cx="50800" cy="713232"/>
          </a:xfrm>
          <a:prstGeom prst="rect">
            <a:avLst/>
          </a:prstGeom>
          <a:solidFill>
            <a:srgbClr val="C13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" y="2880360"/>
            <a:ext cx="166420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C13B84"/>
                </a:solidFill>
                <a:latin typeface="Arial"/>
              </a:rPr>
              <a:t>WED · Jul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" y="3191256"/>
            <a:ext cx="1664208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  <a:latin typeface="Arial"/>
              </a:rPr>
              <a:t>Boost: Jul 3–4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68296" y="2953512"/>
            <a:ext cx="5687568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TBD — Wednesday Demo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11896" y="2953512"/>
            <a:ext cx="1847088" cy="402336"/>
          </a:xfrm>
          <a:prstGeom prst="rect">
            <a:avLst/>
          </a:prstGeom>
          <a:solidFill>
            <a:srgbClr val="C13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11896" y="2971800"/>
            <a:ext cx="1847088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Instagram Boost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51008" y="2971800"/>
            <a:ext cx="1453896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  <a:latin typeface="Arial"/>
              </a:rPr>
              <a:t>Php 700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3520440"/>
            <a:ext cx="1920240" cy="71323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40280" y="3520440"/>
            <a:ext cx="5943600" cy="71323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83880" y="3520440"/>
            <a:ext cx="2103120" cy="71323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287000" y="3520440"/>
            <a:ext cx="1581912" cy="71323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040" y="3520440"/>
            <a:ext cx="50800" cy="713232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8056" y="3593592"/>
            <a:ext cx="166420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F0050"/>
                </a:solidFill>
                <a:latin typeface="Arial"/>
              </a:rPr>
              <a:t>FRI · Jul 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" y="3904488"/>
            <a:ext cx="1664208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9CA3AF"/>
                </a:solidFill>
                <a:latin typeface="Arial"/>
              </a:rPr>
              <a:t>Boost: Jul 5–6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68296" y="3666744"/>
            <a:ext cx="5687568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TBD — Friday Story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11896" y="3666744"/>
            <a:ext cx="1847088" cy="402336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11896" y="3685032"/>
            <a:ext cx="1847088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TikTok Promote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51008" y="3685032"/>
            <a:ext cx="1453896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  <a:latin typeface="Arial"/>
              </a:rPr>
              <a:t>Php 600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4233672"/>
            <a:ext cx="1920240" cy="310896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240280" y="4233672"/>
            <a:ext cx="5943600" cy="310896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83880" y="4233672"/>
            <a:ext cx="2103120" cy="310896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287000" y="4233672"/>
            <a:ext cx="1581912" cy="310896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8056" y="4297680"/>
            <a:ext cx="82296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W27 WEEK TOTAL  ·  TikTok Php 1,300  +  Instagram Php 700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51008" y="4288536"/>
            <a:ext cx="1453896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 i="0">
                <a:solidFill>
                  <a:srgbClr val="FCD34D"/>
                </a:solidFill>
                <a:latin typeface="Arial"/>
              </a:rPr>
              <a:t>Php 2,000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4672584"/>
            <a:ext cx="5632704" cy="274320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8056" y="4736592"/>
            <a:ext cx="537667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TikTok Promote — same as Week 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4946904"/>
            <a:ext cx="5632704" cy="310896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0040" y="4946904"/>
            <a:ext cx="310896" cy="310896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56616" y="5010912"/>
            <a:ext cx="256032" cy="2468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4088" y="5010912"/>
            <a:ext cx="5175504" cy="2468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E5E7EB"/>
                </a:solidFill>
                <a:latin typeface="Arial"/>
              </a:rPr>
              <a:t>Goal: Video views · Audience: Automatic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0040" y="5257800"/>
            <a:ext cx="5632704" cy="310896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20040" y="5257800"/>
            <a:ext cx="310896" cy="310896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56616" y="5321808"/>
            <a:ext cx="256032" cy="2468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4088" y="5321808"/>
            <a:ext cx="5175504" cy="2468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E5E7EB"/>
                </a:solidFill>
                <a:latin typeface="Arial"/>
              </a:rPr>
              <a:t>Duration: 2 days · Php 350/day for Mon post, Php 300/day for Fri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" y="5568696"/>
            <a:ext cx="5632704" cy="310896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20040" y="5568696"/>
            <a:ext cx="310896" cy="310896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56616" y="5632704"/>
            <a:ext cx="256032" cy="2468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4088" y="5632704"/>
            <a:ext cx="5175504" cy="2468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E5E7EB"/>
                </a:solidFill>
                <a:latin typeface="Arial"/>
              </a:rPr>
              <a:t>If W26 CPF was &lt; Php 20, increase Mon to Php 400/day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236208" y="4672584"/>
            <a:ext cx="5632704" cy="274320"/>
          </a:xfrm>
          <a:prstGeom prst="rect">
            <a:avLst/>
          </a:prstGeom>
          <a:solidFill>
            <a:srgbClr val="C13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64224" y="4736592"/>
            <a:ext cx="5376672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Instagram Boost — NEW this week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36208" y="4946904"/>
            <a:ext cx="5632704" cy="310896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36208" y="4946904"/>
            <a:ext cx="310896" cy="310896"/>
          </a:xfrm>
          <a:prstGeom prst="rect">
            <a:avLst/>
          </a:prstGeom>
          <a:solidFill>
            <a:srgbClr val="C13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72784" y="5010912"/>
            <a:ext cx="256032" cy="2468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20256" y="5010912"/>
            <a:ext cx="5175504" cy="2468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E5E7EB"/>
                </a:solidFill>
                <a:latin typeface="Arial"/>
              </a:rPr>
              <a:t>Open Instagram post → tap "Boost Post" → Goal: More profile visits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236208" y="5257800"/>
            <a:ext cx="5632704" cy="310896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36208" y="5257800"/>
            <a:ext cx="310896" cy="310896"/>
          </a:xfrm>
          <a:prstGeom prst="rect">
            <a:avLst/>
          </a:prstGeom>
          <a:solidFill>
            <a:srgbClr val="C13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72784" y="5321808"/>
            <a:ext cx="256032" cy="2468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620256" y="5321808"/>
            <a:ext cx="5175504" cy="2468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E5E7EB"/>
                </a:solidFill>
                <a:latin typeface="Arial"/>
              </a:rPr>
              <a:t>Audience: Automatic · Duration: 2 days · Php 350/day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236208" y="5568696"/>
            <a:ext cx="5632704" cy="310896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36208" y="5568696"/>
            <a:ext cx="310896" cy="310896"/>
          </a:xfrm>
          <a:prstGeom prst="rect">
            <a:avLst/>
          </a:prstGeom>
          <a:solidFill>
            <a:srgbClr val="C13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72784" y="5632704"/>
            <a:ext cx="256032" cy="2468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620256" y="5632704"/>
            <a:ext cx="5175504" cy="2468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E5E7EB"/>
                </a:solidFill>
                <a:latin typeface="Arial"/>
              </a:rPr>
              <a:t>Check results in Instagram Insights → Boosted post tab after 48 hrs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65760" y="6501384"/>
            <a:ext cx="86868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Arial"/>
              </a:rPr>
              <a:t>Tito AI @TitoAIPH  ·  Content Boost Plan  ·  W26–W28  ·  June–July 2026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640312" y="6501384"/>
            <a:ext cx="3657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 i="0">
                <a:solidFill>
                  <a:srgbClr val="F59E0B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73152" cy="475488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7744" y="950976"/>
            <a:ext cx="1170432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Week 3 — W28  ·  Jul 6–12  ·  Boost: All 3 Platforms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1536192"/>
            <a:ext cx="1170432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Post all platforms · full boost push · compare CPF · decide July budget · FB Page required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" y="1645920"/>
            <a:ext cx="11704320" cy="25400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783080"/>
            <a:ext cx="3721608" cy="2505456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783080"/>
            <a:ext cx="3721608" cy="63500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" y="1856232"/>
            <a:ext cx="34655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 i="0">
                <a:solidFill>
                  <a:srgbClr val="FF0050"/>
                </a:solidFill>
                <a:latin typeface="Arial"/>
              </a:rPr>
              <a:t>TikTok Promote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" y="2167128"/>
            <a:ext cx="3465576" cy="384048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" y="2185416"/>
            <a:ext cx="3465576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Php 600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" y="2642616"/>
            <a:ext cx="3465576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F0050"/>
                </a:solidFill>
                <a:latin typeface="Arial"/>
              </a:rPr>
              <a:t>MON · Jul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" y="2898648"/>
            <a:ext cx="346557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TBD — Monday AI Tip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" y="3282696"/>
            <a:ext cx="3465576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FCD34D"/>
                </a:solidFill>
                <a:latin typeface="Arial"/>
              </a:rPr>
              <a:t>Php 300/day × 2 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" y="3538728"/>
            <a:ext cx="3465576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Arial"/>
              </a:rPr>
              <a:t>Boost: Jul 8–9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" y="3813048"/>
            <a:ext cx="3465576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1">
                <a:solidFill>
                  <a:srgbClr val="E5E7EB"/>
                </a:solidFill>
                <a:latin typeface="Arial"/>
              </a:rPr>
              <a:t>Goal: Video views · Automatic audience · Start Jul 8 morning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1783080"/>
            <a:ext cx="3721608" cy="2505456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06240" y="1783080"/>
            <a:ext cx="3721608" cy="63500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34256" y="1856232"/>
            <a:ext cx="34655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 i="0">
                <a:solidFill>
                  <a:srgbClr val="1877F2"/>
                </a:solidFill>
                <a:latin typeface="Arial"/>
              </a:rPr>
              <a:t>Facebook Boost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34256" y="2167128"/>
            <a:ext cx="3465576" cy="384048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34256" y="2185416"/>
            <a:ext cx="3465576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Php 800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34256" y="2642616"/>
            <a:ext cx="3465576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877F2"/>
                </a:solidFill>
                <a:latin typeface="Arial"/>
              </a:rPr>
              <a:t>WED · Jul 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34256" y="2898648"/>
            <a:ext cx="346557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TBD — Wednesday Demo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34256" y="3282696"/>
            <a:ext cx="3465576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FCD34D"/>
                </a:solidFill>
                <a:latin typeface="Arial"/>
              </a:rPr>
              <a:t>Php 400/day × 2 days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34256" y="3538728"/>
            <a:ext cx="3465576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Arial"/>
              </a:rPr>
              <a:t>Boost: Jul 10–11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34256" y="3813048"/>
            <a:ext cx="3465576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1">
                <a:solidFill>
                  <a:srgbClr val="E5E7EB"/>
                </a:solidFill>
                <a:latin typeface="Arial"/>
              </a:rPr>
              <a:t>Goal: Reach + Page likes · Philippines 22–45 · Tech/Freelancing interests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92440" y="1783080"/>
            <a:ext cx="3721608" cy="2505456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2440" y="1783080"/>
            <a:ext cx="3721608" cy="63500"/>
          </a:xfrm>
          <a:prstGeom prst="rect">
            <a:avLst/>
          </a:prstGeom>
          <a:solidFill>
            <a:srgbClr val="C13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0456" y="1856232"/>
            <a:ext cx="34655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 i="0">
                <a:solidFill>
                  <a:srgbClr val="C13B84"/>
                </a:solidFill>
                <a:latin typeface="Arial"/>
              </a:rPr>
              <a:t>Instagram Boost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0456" y="2167128"/>
            <a:ext cx="3465576" cy="384048"/>
          </a:xfrm>
          <a:prstGeom prst="rect">
            <a:avLst/>
          </a:prstGeom>
          <a:solidFill>
            <a:srgbClr val="C13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0456" y="2185416"/>
            <a:ext cx="3465576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Php 600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0456" y="2642616"/>
            <a:ext cx="3465576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C13B84"/>
                </a:solidFill>
                <a:latin typeface="Arial"/>
              </a:rPr>
              <a:t>FRI · Jul 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0456" y="2898648"/>
            <a:ext cx="3465576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TBD — Friday Story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0456" y="3282696"/>
            <a:ext cx="3465576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FCD34D"/>
                </a:solidFill>
                <a:latin typeface="Arial"/>
              </a:rPr>
              <a:t>Php 300/day × 2 days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3538728"/>
            <a:ext cx="3465576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Arial"/>
              </a:rPr>
              <a:t>Boost: Jul 12–13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0456" y="3813048"/>
            <a:ext cx="3465576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1">
                <a:solidFill>
                  <a:srgbClr val="E5E7EB"/>
                </a:solidFill>
                <a:latin typeface="Arial"/>
              </a:rPr>
              <a:t>Goal: Profile visits · Automatic audience · Start Jul 12 morning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398264"/>
            <a:ext cx="11548872" cy="475488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040" y="4398264"/>
            <a:ext cx="63500" cy="47548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8056" y="4471416"/>
            <a:ext cx="1129284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⚠️  BEFORE WEEK 3: Facebook Page required. Go to facebook.com/pages/create → Business or brand. Personal profiles cannot run paid boosts or access analytics.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965192"/>
            <a:ext cx="11548872" cy="34747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8056" y="5038344"/>
            <a:ext cx="1129284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W28 TOTAL:  Php 2,000   ·   TikTok Php 600  +  Facebook Php 800  +  Instagram Php 600   ·   3-Week Grand Total: Php 6,000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5385816"/>
            <a:ext cx="11548872" cy="329184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0040" y="5385816"/>
            <a:ext cx="63500" cy="32918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8056" y="5458968"/>
            <a:ext cx="11292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FCD34D"/>
                </a:solidFill>
                <a:latin typeface="Arial"/>
              </a:rPr>
              <a:t>After W28: compare CPF across all 3 platforms → winner gets biggest July budget. Scale rule: CPF &lt; Php 12 → add Php 400/week to that platform.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6501384"/>
            <a:ext cx="86868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Arial"/>
              </a:rPr>
              <a:t>Tito AI @TitoAIPH  ·  Content Boost Plan  ·  W26–W28  ·  June–July 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640312" y="6501384"/>
            <a:ext cx="3657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 i="0">
                <a:solidFill>
                  <a:srgbClr val="F59E0B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73152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7744" y="950976"/>
            <a:ext cx="1170432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Budget Summary — 3 Weeks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1536192"/>
            <a:ext cx="1170432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Php 6,000 total  ·  W26 TikTok  →  W27 TikTok+IG  →  W28 All 3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" y="1645920"/>
            <a:ext cx="11704320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783080"/>
            <a:ext cx="2286000" cy="310896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" y="1856232"/>
            <a:ext cx="2029968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Arial"/>
              </a:rPr>
              <a:t>Week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1783080"/>
            <a:ext cx="3017520" cy="310896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34056" y="1856232"/>
            <a:ext cx="2761488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Arial"/>
              </a:rPr>
              <a:t>TikTok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23560" y="1783080"/>
            <a:ext cx="3017520" cy="310896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51576" y="1856232"/>
            <a:ext cx="2761488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Arial"/>
              </a:rPr>
              <a:t>Instagram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1783080"/>
            <a:ext cx="3227832" cy="310896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69096" y="1856232"/>
            <a:ext cx="297180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Arial"/>
              </a:rPr>
              <a:t>Facebook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093976"/>
            <a:ext cx="2286000" cy="877824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06040" y="2093976"/>
            <a:ext cx="3017520" cy="877824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23560" y="2093976"/>
            <a:ext cx="3017520" cy="877824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41080" y="2093976"/>
            <a:ext cx="3227832" cy="877824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093976"/>
            <a:ext cx="63500" cy="877824"/>
          </a:xfrm>
          <a:prstGeom prst="rect">
            <a:avLst/>
          </a:prstGeom>
          <a:solidFill>
            <a:srgbClr val="FF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" y="2295144"/>
            <a:ext cx="2029968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F0050"/>
                </a:solidFill>
                <a:latin typeface="Arial"/>
              </a:rPr>
              <a:t>W26  Jun 22–28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34056" y="2221992"/>
            <a:ext cx="2761488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Arial"/>
              </a:rPr>
              <a:t>Php 2,000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34056" y="2569464"/>
            <a:ext cx="2761488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FF0050"/>
                </a:solidFill>
                <a:latin typeface="Arial"/>
              </a:rPr>
              <a:t>3 posts · TikTok Promote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51576" y="2404872"/>
            <a:ext cx="2761488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  <a:latin typeface="Arial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69096" y="2404872"/>
            <a:ext cx="297180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  <a:latin typeface="Arial"/>
              </a:rPr>
              <a:t>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971800"/>
            <a:ext cx="2286000" cy="877824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606040" y="2971800"/>
            <a:ext cx="3017520" cy="877824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23560" y="2971800"/>
            <a:ext cx="3017520" cy="877824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41080" y="2971800"/>
            <a:ext cx="3227832" cy="877824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2971800"/>
            <a:ext cx="63500" cy="877824"/>
          </a:xfrm>
          <a:prstGeom prst="rect">
            <a:avLst/>
          </a:prstGeom>
          <a:solidFill>
            <a:srgbClr val="C13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" y="3172968"/>
            <a:ext cx="2029968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C13B84"/>
                </a:solidFill>
                <a:latin typeface="Arial"/>
              </a:rPr>
              <a:t>W27  Jun 29–Jul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34056" y="3099816"/>
            <a:ext cx="2761488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Arial"/>
              </a:rPr>
              <a:t>Php 1,300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34056" y="3447288"/>
            <a:ext cx="2761488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FF0050"/>
                </a:solidFill>
                <a:latin typeface="Arial"/>
              </a:rPr>
              <a:t>2 posts · TikTok Promote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51576" y="3099816"/>
            <a:ext cx="2761488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Arial"/>
              </a:rPr>
              <a:t>Php 700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51576" y="3447288"/>
            <a:ext cx="2761488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C13B84"/>
                </a:solidFill>
                <a:latin typeface="Arial"/>
              </a:rPr>
              <a:t>1 post · Instagram Boost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69096" y="3282696"/>
            <a:ext cx="297180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  <a:latin typeface="Arial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849624"/>
            <a:ext cx="2286000" cy="877824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606040" y="3849624"/>
            <a:ext cx="3017520" cy="877824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23560" y="3849624"/>
            <a:ext cx="3017520" cy="877824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641080" y="3849624"/>
            <a:ext cx="3227832" cy="877824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0040" y="3849624"/>
            <a:ext cx="63500" cy="877824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8056" y="4050792"/>
            <a:ext cx="2029968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877F2"/>
                </a:solidFill>
                <a:latin typeface="Arial"/>
              </a:rPr>
              <a:t>W28  Jul 6–12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34056" y="3977640"/>
            <a:ext cx="2761488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Arial"/>
              </a:rPr>
              <a:t>Php 600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34056" y="4325112"/>
            <a:ext cx="2761488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FF0050"/>
                </a:solidFill>
                <a:latin typeface="Arial"/>
              </a:rPr>
              <a:t>1 post · TikTok Promote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51576" y="3977640"/>
            <a:ext cx="2761488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Arial"/>
              </a:rPr>
              <a:t>Php 600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51576" y="4325112"/>
            <a:ext cx="2761488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C13B84"/>
                </a:solidFill>
                <a:latin typeface="Arial"/>
              </a:rPr>
              <a:t>1 post · Instagram Boost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69096" y="3977640"/>
            <a:ext cx="297180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Arial"/>
              </a:rPr>
              <a:t>Php 800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69096" y="4325112"/>
            <a:ext cx="297180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1877F2"/>
                </a:solidFill>
                <a:latin typeface="Arial"/>
              </a:rPr>
              <a:t>1 post · Facebook Boost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4727448"/>
            <a:ext cx="2286000" cy="34747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606040" y="4727448"/>
            <a:ext cx="3017520" cy="34747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623560" y="4727448"/>
            <a:ext cx="3017520" cy="34747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641080" y="4727448"/>
            <a:ext cx="3227832" cy="347472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8056" y="4809744"/>
            <a:ext cx="457200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3-WEEK GRAND TOTAL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34056" y="4800600"/>
            <a:ext cx="276148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 i="0">
                <a:solidFill>
                  <a:srgbClr val="FF0050"/>
                </a:solidFill>
                <a:latin typeface="Arial"/>
              </a:rPr>
              <a:t>Php 3,900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51576" y="4800600"/>
            <a:ext cx="276148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 i="0">
                <a:solidFill>
                  <a:srgbClr val="C13B84"/>
                </a:solidFill>
                <a:latin typeface="Arial"/>
              </a:rPr>
              <a:t>Php 1,300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69096" y="4800600"/>
            <a:ext cx="2971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 i="0">
                <a:solidFill>
                  <a:srgbClr val="1877F2"/>
                </a:solidFill>
                <a:latin typeface="Arial"/>
              </a:rPr>
              <a:t>Php 800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5221224"/>
            <a:ext cx="11548872" cy="25603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20040" y="5221224"/>
            <a:ext cx="63500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8056" y="5276088"/>
            <a:ext cx="45720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 i="0">
                <a:solidFill>
                  <a:srgbClr val="F59E0B"/>
                </a:solidFill>
                <a:latin typeface="Arial"/>
              </a:rPr>
              <a:t>SCALE RULES — WEEK 4+ (July)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40" y="5477256"/>
            <a:ext cx="11548872" cy="310896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48056" y="5541264"/>
            <a:ext cx="11292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E5E7EB"/>
                </a:solidFill>
                <a:latin typeface="Arial"/>
              </a:rPr>
              <a:t>Single post earns 25+ followers  →  extend that post 2 more days at the same daily rate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" y="5806440"/>
            <a:ext cx="11548872" cy="310896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48056" y="5870448"/>
            <a:ext cx="11292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E5E7EB"/>
                </a:solidFill>
                <a:latin typeface="Arial"/>
              </a:rPr>
              <a:t>Cost-per-follow drops below Php 30  →  increase that platform's weekly budget by Php 400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0040" y="6135624"/>
            <a:ext cx="11548872" cy="310896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48056" y="6199632"/>
            <a:ext cx="11292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E5E7EB"/>
                </a:solidFill>
                <a:latin typeface="Arial"/>
              </a:rPr>
              <a:t>Platform with lowest CPF across W26–W28  →  gets the biggest share of July budget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" y="6501384"/>
            <a:ext cx="86868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Arial"/>
              </a:rPr>
              <a:t>Tito AI @TitoAIPH  ·  Content Boost Plan  ·  W26–W28  ·  June–July 2026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640312" y="6501384"/>
            <a:ext cx="3657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 i="0">
                <a:solidFill>
                  <a:srgbClr val="F59E0B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73152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7744" y="950976"/>
            <a:ext cx="1170432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KPIs to Track Weekly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1536192"/>
            <a:ext cx="1170432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Arial"/>
              </a:rPr>
              <a:t>Baseline: IG 1,031 views · 389 reached (organic) · targets based on PH market rates for new accounts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" y="1645920"/>
            <a:ext cx="11704320" cy="25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783080"/>
            <a:ext cx="11548872" cy="292608"/>
          </a:xfrm>
          <a:prstGeom prst="rect">
            <a:avLst/>
          </a:prstGeom>
          <a:solidFill>
            <a:srgbClr val="1C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783080"/>
            <a:ext cx="63500" cy="292608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" y="1847088"/>
            <a:ext cx="112928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 i="0">
                <a:solidFill>
                  <a:srgbClr val="FCD34D"/>
                </a:solidFill>
                <a:latin typeface="Arial"/>
              </a:rPr>
              <a:t>ORGANIC BASELINE (before boost)  ·  Instagram: 1,031 total views · 389 accounts reached · ~200–350 views/Reel  ·  TikTok: pending  ·  New account — boost targets set conservatively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148840"/>
            <a:ext cx="3529584" cy="310896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" y="2221992"/>
            <a:ext cx="3273552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Arial"/>
              </a:rPr>
              <a:t>Metric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9624" y="2148840"/>
            <a:ext cx="2651760" cy="310896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77640" y="2221992"/>
            <a:ext cx="2395728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F0050"/>
                </a:solidFill>
                <a:latin typeface="Arial"/>
              </a:rPr>
              <a:t>TikTok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01384" y="2148840"/>
            <a:ext cx="2651760" cy="310896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2221992"/>
            <a:ext cx="2395728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C13B84"/>
                </a:solidFill>
                <a:latin typeface="Arial"/>
              </a:rPr>
              <a:t>Instagram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53144" y="2148840"/>
            <a:ext cx="2715768" cy="310896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2221992"/>
            <a:ext cx="2459736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877F2"/>
                </a:solidFill>
                <a:latin typeface="Arial"/>
              </a:rPr>
              <a:t>Facebook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459736"/>
            <a:ext cx="3529584" cy="34747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9624" y="2459736"/>
            <a:ext cx="2651760" cy="34747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01384" y="2459736"/>
            <a:ext cx="2651760" cy="34747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53144" y="2459736"/>
            <a:ext cx="2715768" cy="34747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2459736"/>
            <a:ext cx="50800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" y="2569464"/>
            <a:ext cx="3273552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Arial"/>
              </a:rPr>
              <a:t>Reach per boosted post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40" y="2569464"/>
            <a:ext cx="239572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 i="0">
                <a:solidFill>
                  <a:srgbClr val="FF0050"/>
                </a:solidFill>
                <a:latin typeface="Arial"/>
              </a:rPr>
              <a:t>600–1,500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2569464"/>
            <a:ext cx="239572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 i="0">
                <a:solidFill>
                  <a:srgbClr val="C13B84"/>
                </a:solidFill>
                <a:latin typeface="Arial"/>
              </a:rPr>
              <a:t>400–900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2569464"/>
            <a:ext cx="2459736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 i="0">
                <a:solidFill>
                  <a:srgbClr val="1877F2"/>
                </a:solidFill>
                <a:latin typeface="Arial"/>
              </a:rPr>
              <a:t>500–1,200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2807208"/>
            <a:ext cx="3529584" cy="34747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849624" y="2807208"/>
            <a:ext cx="2651760" cy="34747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01384" y="2807208"/>
            <a:ext cx="2651760" cy="34747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53144" y="2807208"/>
            <a:ext cx="2715768" cy="34747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2807208"/>
            <a:ext cx="50800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" y="2916936"/>
            <a:ext cx="3273552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Arial"/>
              </a:rPr>
              <a:t>Views per boosted post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77640" y="2916936"/>
            <a:ext cx="239572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 i="0">
                <a:solidFill>
                  <a:srgbClr val="FF0050"/>
                </a:solidFill>
                <a:latin typeface="Arial"/>
              </a:rPr>
              <a:t>800–2,000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2916936"/>
            <a:ext cx="239572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 i="0">
                <a:solidFill>
                  <a:srgbClr val="C13B84"/>
                </a:solidFill>
                <a:latin typeface="Arial"/>
              </a:rPr>
              <a:t>300–700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2916936"/>
            <a:ext cx="2459736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 i="0">
                <a:solidFill>
                  <a:srgbClr val="1877F2"/>
                </a:solidFill>
                <a:latin typeface="Arial"/>
              </a:rPr>
              <a:t>N/A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154680"/>
            <a:ext cx="3529584" cy="34747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49624" y="3154680"/>
            <a:ext cx="2651760" cy="34747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01384" y="3154680"/>
            <a:ext cx="2651760" cy="34747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53144" y="3154680"/>
            <a:ext cx="2715768" cy="34747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0040" y="3154680"/>
            <a:ext cx="50800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8056" y="3264408"/>
            <a:ext cx="3273552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Arial"/>
              </a:rPr>
              <a:t>New followers per boost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77640" y="3264408"/>
            <a:ext cx="239572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 i="0">
                <a:solidFill>
                  <a:srgbClr val="FF0050"/>
                </a:solidFill>
                <a:latin typeface="Arial"/>
              </a:rPr>
              <a:t>5–20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29400" y="3264408"/>
            <a:ext cx="239572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 i="0">
                <a:solidFill>
                  <a:srgbClr val="C13B84"/>
                </a:solidFill>
                <a:latin typeface="Arial"/>
              </a:rPr>
              <a:t>3–12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81160" y="3264408"/>
            <a:ext cx="2459736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 i="0">
                <a:solidFill>
                  <a:srgbClr val="1877F2"/>
                </a:solidFill>
                <a:latin typeface="Arial"/>
              </a:rPr>
              <a:t>10–25 page likes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3502152"/>
            <a:ext cx="3529584" cy="34747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849624" y="3502152"/>
            <a:ext cx="2651760" cy="34747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01384" y="3502152"/>
            <a:ext cx="2651760" cy="34747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153144" y="3502152"/>
            <a:ext cx="2715768" cy="34747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20040" y="3502152"/>
            <a:ext cx="50800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8056" y="3611880"/>
            <a:ext cx="3273552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Arial"/>
              </a:rPr>
              <a:t>Cost per follow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77640" y="3611880"/>
            <a:ext cx="239572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 i="0">
                <a:solidFill>
                  <a:srgbClr val="FF0050"/>
                </a:solidFill>
                <a:latin typeface="Arial"/>
              </a:rPr>
              <a:t>Php 35–90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29400" y="3611880"/>
            <a:ext cx="239572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 i="0">
                <a:solidFill>
                  <a:srgbClr val="C13B84"/>
                </a:solidFill>
                <a:latin typeface="Arial"/>
              </a:rPr>
              <a:t>Php 60–110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81160" y="3611880"/>
            <a:ext cx="2459736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 i="0">
                <a:solidFill>
                  <a:srgbClr val="1877F2"/>
                </a:solidFill>
                <a:latin typeface="Arial"/>
              </a:rPr>
              <a:t>Php 35–80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0040" y="3849624"/>
            <a:ext cx="3529584" cy="34747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849624" y="3849624"/>
            <a:ext cx="2651760" cy="34747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501384" y="3849624"/>
            <a:ext cx="2651760" cy="34747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153144" y="3849624"/>
            <a:ext cx="2715768" cy="34747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20040" y="3849624"/>
            <a:ext cx="50800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8056" y="3959352"/>
            <a:ext cx="3273552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Arial"/>
              </a:rPr>
              <a:t>Watch completion (W1)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77640" y="3959352"/>
            <a:ext cx="239572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 i="0">
                <a:solidFill>
                  <a:srgbClr val="FF0050"/>
                </a:solidFill>
                <a:latin typeface="Arial"/>
              </a:rPr>
              <a:t>15–30%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29400" y="3959352"/>
            <a:ext cx="239572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 i="0">
                <a:solidFill>
                  <a:srgbClr val="C13B84"/>
                </a:solidFill>
                <a:latin typeface="Arial"/>
              </a:rPr>
              <a:t>20–35%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81160" y="3959352"/>
            <a:ext cx="2459736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 i="0">
                <a:solidFill>
                  <a:srgbClr val="1877F2"/>
                </a:solidFill>
                <a:latin typeface="Arial"/>
              </a:rPr>
              <a:t>N/A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0040" y="4197096"/>
            <a:ext cx="3529584" cy="34747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849624" y="4197096"/>
            <a:ext cx="2651760" cy="34747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501384" y="4197096"/>
            <a:ext cx="2651760" cy="34747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153144" y="4197096"/>
            <a:ext cx="2715768" cy="34747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20040" y="4197096"/>
            <a:ext cx="50800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48056" y="4306824"/>
            <a:ext cx="3273552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Arial"/>
              </a:rPr>
              <a:t>W3 CPF target (goal)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977640" y="4306824"/>
            <a:ext cx="239572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 i="0">
                <a:solidFill>
                  <a:srgbClr val="FF0050"/>
                </a:solidFill>
                <a:latin typeface="Arial"/>
              </a:rPr>
              <a:t>&lt; Php 45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29400" y="4306824"/>
            <a:ext cx="2395728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 i="0">
                <a:solidFill>
                  <a:srgbClr val="C13B84"/>
                </a:solidFill>
                <a:latin typeface="Arial"/>
              </a:rPr>
              <a:t>&lt; Php 65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281160" y="4306824"/>
            <a:ext cx="2459736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00" b="1" i="0">
                <a:solidFill>
                  <a:srgbClr val="1877F2"/>
                </a:solidFill>
                <a:latin typeface="Arial"/>
              </a:rPr>
              <a:t>&lt; Php 55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20040" y="4654296"/>
            <a:ext cx="11548872" cy="310896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20040" y="4654296"/>
            <a:ext cx="63500" cy="3108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48056" y="4718304"/>
            <a:ext cx="112928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E5E7EB"/>
                </a:solidFill>
                <a:latin typeface="Arial"/>
              </a:rPr>
              <a:t>WHERE TO PULL  ·  TikTok: Creator Center → Analytics + Promote tab   Instagram: Professional Dashboard → Boosted post   Facebook: Business Suite → Page Insights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20040" y="5056632"/>
            <a:ext cx="11548872" cy="256032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20040" y="5056632"/>
            <a:ext cx="63500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48056" y="5111496"/>
            <a:ext cx="36576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1" i="0">
                <a:solidFill>
                  <a:srgbClr val="F59E0B"/>
                </a:solidFill>
                <a:latin typeface="Arial"/>
              </a:rPr>
              <a:t>POST-DAY CHECKLIST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20040" y="5312664"/>
            <a:ext cx="11548872" cy="237744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48056" y="5376672"/>
            <a:ext cx="112928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E5E7EB"/>
                </a:solidFill>
                <a:latin typeface="Arial"/>
              </a:rPr>
              <a:t>☐  Reply to ALL comments within first 1 hour of posting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0040" y="5568696"/>
            <a:ext cx="11548872" cy="237744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48056" y="5632704"/>
            <a:ext cx="112928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E5E7EB"/>
                </a:solidFill>
                <a:latin typeface="Arial"/>
              </a:rPr>
              <a:t>☐  Pin first comment within 5 min — tip or claude.ai link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20040" y="5824728"/>
            <a:ext cx="11548872" cy="237744"/>
          </a:xfrm>
          <a:prstGeom prst="rect">
            <a:avLst/>
          </a:prstGeom>
          <a:solidFill>
            <a:srgbClr val="0D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48056" y="5888736"/>
            <a:ext cx="112928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E5E7EB"/>
                </a:solidFill>
                <a:latin typeface="Arial"/>
              </a:rPr>
              <a:t>☐  Upload natively to each platform — never use TikTok cross-post link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20040" y="6080760"/>
            <a:ext cx="11548872" cy="237744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48056" y="6144768"/>
            <a:ext cx="112928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E5E7EB"/>
                </a:solidFill>
                <a:latin typeface="Arial"/>
              </a:rPr>
              <a:t>☐  End every video with a YES/NO question to drive comment rate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65760" y="6501384"/>
            <a:ext cx="86868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9CA3AF"/>
                </a:solidFill>
                <a:latin typeface="Arial"/>
              </a:rPr>
              <a:t>Tito AI @TitoAIPH  ·  Content Boost Plan  ·  W26–W28  ·  June–July 2026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640312" y="6501384"/>
            <a:ext cx="3657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 i="0">
                <a:solidFill>
                  <a:srgbClr val="F59E0B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